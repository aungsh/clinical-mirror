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39701178eb4bd4" /><Relationship Type="http://schemas.openxmlformats.org/officeDocument/2006/relationships/extended-properties" Target="/docProps/app.xml" Id="R03f384da7bae4005" /><Relationship Type="http://schemas.openxmlformats.org/officeDocument/2006/relationships/officeDocument" Target="/ppt/presentation.xml" Id="Rd57bad9c3a2746f3" /></Relationships>
</file>

<file path=ppt/presentation.xml><?xml version="1.0" encoding="utf-8"?>
<p:presentation xmlns:p="http://schemas.openxmlformats.org/presentationml/2006/main">
  <p:sldMasterIdLst>
    <p:sldMasterId xmlns:r="http://schemas.openxmlformats.org/officeDocument/2006/relationships" id="2147483648" r:id="Rc6a28885cdb8475b"/>
  </p:sldMasterIdLst>
  <p:notesMasterIdLst>
    <p:notesMasterId xmlns:r="http://schemas.openxmlformats.org/officeDocument/2006/relationships" r:id="Rcba52d61250d4f01"/>
  </p:notesMasterIdLst>
  <p:sldIdLst>
    <p:sldId xmlns:r="http://schemas.openxmlformats.org/officeDocument/2006/relationships" id="256" r:id="R1f9aae8756d2444d"/>
    <p:sldId xmlns:r="http://schemas.openxmlformats.org/officeDocument/2006/relationships" id="257" r:id="Re64044669fc543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91640b7d6347ca" /><Relationship Type="http://schemas.openxmlformats.org/officeDocument/2006/relationships/slideMaster" Target="/ppt/slideMasters/slideMaster1.xml" Id="Rc6a28885cdb8475b" /><Relationship Type="http://schemas.openxmlformats.org/officeDocument/2006/relationships/notesMaster" Target="/ppt/notesMasters/notesMaster1.xml" Id="Rcba52d61250d4f01" /><Relationship Type="http://schemas.openxmlformats.org/officeDocument/2006/relationships/presProps" Target="/ppt/presProps.xml" Id="Rb5b188358ba84f17" /><Relationship Type="http://schemas.openxmlformats.org/officeDocument/2006/relationships/tableStyles" Target="/ppt/tableStyles.xml" Id="Ra8c853cc5e2b4ac3" /><Relationship Type="http://schemas.openxmlformats.org/officeDocument/2006/relationships/slide" Target="/ppt/slides/slide1.xml" Id="R1f9aae8756d2444d" /><Relationship Type="http://schemas.openxmlformats.org/officeDocument/2006/relationships/slide" Target="/ppt/slides/slide2.xml" Id="Re64044669fc543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6839acd5b547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06dc34595d4a4e" /><Relationship Type="http://schemas.openxmlformats.org/officeDocument/2006/relationships/notesMaster" Target="/ppt/notesMasters/notesMaster1.xml" Id="R50d2f5b5b3c54e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e0989856b04910" /><Relationship Type="http://schemas.openxmlformats.org/officeDocument/2006/relationships/notesMaster" Target="/ppt/notesMasters/notesMaster1.xml" Id="Rf9b40d00e37449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capacity problem. Difficult conversations—breaking bad news, distress, angry family members and behaviour change—require both compassion and clarity, yet students may get too few chances to rehearse them. Actor-based simulation remains valuable but is expensive and difficult to make continuously available. ClinicalMirror adds a browser-based rehearsal layer: a fictional AI patient reacts to what the learner says, and the review links feedback to exact learner turns. The aim is more repetition between high-fidelity sessions, not replacement of educators or simulated patients.</a:t>
            </a:r>
          </a:p>
          <a:p xmlns:a="http://schemas.openxmlformats.org/drawingml/2006/main">
            <a:r>
              <a:t/>
            </a:r>
          </a:p>
          <a:p xmlns:a="http://schemas.openxmlformats.org/drawingml/2006/main">
            <a:r>
              <a:t>[Sources]</a:t>
            </a:r>
          </a:p>
          <a:p xmlns:a="http://schemas.openxmlformats.org/drawingml/2006/main">
            <a:r>
              <a:t>- AI Challenge 2026_Simplified Problem Description.pdf</a:t>
            </a:r>
          </a:p>
          <a:p xmlns:a="http://schemas.openxmlformats.org/drawingml/2006/main">
            <a:r>
              <a:t>- hackaton 1.pdf</a:t>
            </a:r>
          </a:p>
          <a:p xmlns:a="http://schemas.openxmlformats.org/drawingml/2006/main">
            <a:r>
              <a:t>- Current ClinicalMirror repository and live homepage screenshot, reviewed 6 Aug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what is genuinely working today. Four scenarios are configured; three are available, while Mental Health Crisis is held pending faculty review. Learners can speak or type, browser speech handles recognition and playback, server routes protect prompts and the Gemini key, and attempts are limited to browser session storage—so SQL, external speech services, avatar plugins and learner accounts are not required for this demo. Feedback covers empathy, clarity and de-escalation, cites exact turns, suggests improvements and produces a retry plan. The screenshot is illustrative output, not validated educational outcome evidence. The proposed next step is a limited faculty-supervised pilot to assess realism, psychological safety, feedback usefulness and whether the learner's next attempt improves. Persistent data, authentication and institutional governance should only be prioritised after that validation.</a:t>
            </a:r>
          </a:p>
          <a:p xmlns:a="http://schemas.openxmlformats.org/drawingml/2006/main">
            <a:r>
              <a:t/>
            </a:r>
          </a:p>
          <a:p xmlns:a="http://schemas.openxmlformats.org/drawingml/2006/main">
            <a:r>
              <a:t>[Sources]</a:t>
            </a:r>
          </a:p>
          <a:p xmlns:a="http://schemas.openxmlformats.org/drawingml/2006/main">
            <a:r>
              <a:t>- Current repository README.md</a:t>
            </a:r>
          </a:p>
          <a:p xmlns:a="http://schemas.openxmlformats.org/drawingml/2006/main">
            <a:r>
              <a:t>- src/lib/scenario-catalog.ts</a:t>
            </a:r>
          </a:p>
          <a:p xmlns:a="http://schemas.openxmlformats.org/drawingml/2006/main">
            <a:r>
              <a:t>- src/app/session/[scenarioId]/page.tsx</a:t>
            </a:r>
          </a:p>
          <a:p xmlns:a="http://schemas.openxmlformats.org/drawingml/2006/main">
            <a:r>
              <a:t>- src/app/api/chat/route.ts</a:t>
            </a:r>
          </a:p>
          <a:p xmlns:a="http://schemas.openxmlformats.org/drawingml/2006/main">
            <a:r>
              <a:t>- src/app/api/feedback/route.ts</a:t>
            </a:r>
          </a:p>
          <a:p xmlns:a="http://schemas.openxmlformats.org/drawingml/2006/main">
            <a:r>
              <a:t>- src/lib/attempt-history.ts</a:t>
            </a:r>
          </a:p>
          <a:p xmlns:a="http://schemas.openxmlformats.org/drawingml/2006/main">
            <a:r>
              <a:t>- Live feedback screenshot captured 6 Aug 2026</a:t>
            </a:r>
          </a:p>
          <a:p xmlns:a="http://schemas.openxmlformats.org/drawingml/2006/main">
            <a:r>
              <a:t>- hackaton 1.pdf judging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1a0d044f054a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c2a9c9d6e04409" /><Relationship Type="http://schemas.openxmlformats.org/officeDocument/2006/relationships/slideLayout" Target="/ppt/slideLayouts/slideLayout1.xml" Id="Re7dd1a3f3b2844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dd1a3f3b2844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386d983e574c74" /><Relationship Type="http://schemas.openxmlformats.org/officeDocument/2006/relationships/image" Target="/ppt/media/image.jpeg" Id="Radb582a63f8a4def" /><Relationship Type="http://schemas.openxmlformats.org/officeDocument/2006/relationships/notesSlide" Target="/ppt/notesSlides/notesSlide1.xml" Id="R4fe19ccfadc741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f6bfbc341b458d" /><Relationship Type="http://schemas.openxmlformats.org/officeDocument/2006/relationships/image" Target="/ppt/media/image2.jpeg" Id="R47fa4dbba02342a2" /><Relationship Type="http://schemas.openxmlformats.org/officeDocument/2006/relationships/notesSlide" Target="/ppt/notesSlides/notesSlide2.xml" Id="R5bd2a998070a436c" /></Relationships>
</file>

<file path=ppt/slides/slide1.xml><?xml version="1.0" encoding="utf-8"?>
<p:sld xmlns:p="http://schemas.openxmlformats.org/presentationml/2006/main">
  <p:cSld>
    <p:bg>
      <p:bgPr>
        <a:solidFill xmlns:a="http://schemas.openxmlformats.org/drawingml/2006/main">
          <a:srgbClr val="FDFB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AF0A78A-E460-49FA-A83E-A2CF02901B1A}"/>
              </a:ext>
            </a:extLst>
          </p:cNvPr>
          <p:cNvSpPr>
            <a:spLocks xmlns:a="http://schemas.openxmlformats.org/drawingml/2006/main" noGrp="1"/>
          </p:cNvSpPr>
          <p:nvPr/>
        </p:nvSpPr>
        <p:spPr>
          <a:xfrm xmlns:a="http://schemas.openxmlformats.org/drawingml/2006/main">
            <a:off x="609600" y="29527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75" b="1">
                <a:solidFill>
                  <a:srgbClr val="50664F"/>
                </a:solidFill>
                <a:latin typeface="Arial"/>
                <a:ea typeface="Arial"/>
                <a:cs typeface="Arial"/>
              </a:defRPr>
            </a:pPr>
            <a:r>
              <a:rPr sz="975" b="1">
                <a:solidFill>
                  <a:srgbClr val="50664F"/>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D447E559-4EC4-4DE5-B5EA-A01980A435AE}"/>
              </a:ext>
            </a:extLst>
          </p:cNvPr>
          <p:cNvSpPr>
            <a:spLocks xmlns:a="http://schemas.openxmlformats.org/drawingml/2006/main" noGrp="1"/>
          </p:cNvSpPr>
          <p:nvPr/>
        </p:nvSpPr>
        <p:spPr>
          <a:xfrm xmlns:a="http://schemas.openxmlformats.org/drawingml/2006/main">
            <a:off x="10668000" y="295275"/>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6000"/>
              </a:lnSpc>
              <a:buNone/>
              <a:defRPr sz="975" b="1">
                <a:solidFill>
                  <a:srgbClr val="969087"/>
                </a:solidFill>
                <a:latin typeface="Arial"/>
                <a:ea typeface="Arial"/>
                <a:cs typeface="Arial"/>
              </a:defRPr>
            </a:pPr>
            <a:r>
              <a:rPr sz="975" b="1">
                <a:solidFill>
                  <a:srgbClr val="969087"/>
                </a:solidFill>
                <a:latin typeface="Arial"/>
                <a:ea typeface="Arial"/>
                <a:cs typeface="Arial"/>
              </a:rPr>
              <a:t>01 / 02</a:t>
            </a:r>
          </a:p>
        </p:txBody>
      </p:sp>
      <p:sp>
        <p:nvSpPr>
          <p:cNvPr id="3" name="">
            <a:extLst xmlns:a="http://schemas.openxmlformats.org/drawingml/2006/main">
              <a:ext uri="{FF2B5EF4-FFF2-40B4-BE49-F238E27FC236}">
                <a16:creationId xmlns:a16="http://schemas.microsoft.com/office/drawing/2014/main" id="{FD692AC9-C1CF-424C-B562-1B261D4B3479}"/>
              </a:ext>
            </a:extLst>
          </p:cNvPr>
          <p:cNvSpPr>
            <a:spLocks xmlns:a="http://schemas.openxmlformats.org/drawingml/2006/main" noGrp="1"/>
          </p:cNvSpPr>
          <p:nvPr/>
        </p:nvSpPr>
        <p:spPr>
          <a:xfrm xmlns:a="http://schemas.openxmlformats.org/drawingml/2006/main">
            <a:off x="609600" y="600075"/>
            <a:ext cx="10972800" cy="9525"/>
          </a:xfrm>
          <a:prstGeom xmlns:a="http://schemas.openxmlformats.org/drawingml/2006/main" prst="rect">
            <a:avLst/>
          </a:prstGeom>
          <a:solidFill xmlns:a="http://schemas.openxmlformats.org/drawingml/2006/main">
            <a:srgbClr val="DED9C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681269C-8BD0-443C-B857-3632A2EFC819}"/>
              </a:ext>
            </a:extLst>
          </p:cNvPr>
          <p:cNvSpPr>
            <a:spLocks xmlns:a="http://schemas.openxmlformats.org/drawingml/2006/main" noGrp="1"/>
          </p:cNvSpPr>
          <p:nvPr/>
        </p:nvSpPr>
        <p:spPr>
          <a:xfrm xmlns:a="http://schemas.openxmlformats.org/drawingml/2006/main">
            <a:off x="609600" y="7810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525" b="1">
                <a:solidFill>
                  <a:srgbClr val="292722"/>
                </a:solidFill>
                <a:latin typeface="Arial"/>
                <a:ea typeface="Arial"/>
                <a:cs typeface="Arial"/>
              </a:defRPr>
            </a:pPr>
            <a:r>
              <a:rPr sz="3525" b="1">
                <a:solidFill>
                  <a:srgbClr val="292722"/>
                </a:solidFill>
                <a:latin typeface="Arial"/>
                <a:ea typeface="Arial"/>
                <a:cs typeface="Arial"/>
              </a:rPr>
              <a:t>Practice difficult conversations before they count</a:t>
            </a:r>
          </a:p>
        </p:txBody>
      </p:sp>
      <p:sp>
        <p:nvSpPr>
          <p:cNvPr id="5" name="">
            <a:extLst xmlns:a="http://schemas.openxmlformats.org/drawingml/2006/main">
              <a:ext uri="{FF2B5EF4-FFF2-40B4-BE49-F238E27FC236}">
                <a16:creationId xmlns:a16="http://schemas.microsoft.com/office/drawing/2014/main" id="{A7C2048A-C912-4F71-9207-C4A03ECD8AE8}"/>
              </a:ext>
            </a:extLst>
          </p:cNvPr>
          <p:cNvSpPr>
            <a:spLocks xmlns:a="http://schemas.openxmlformats.org/drawingml/2006/main" noGrp="1"/>
          </p:cNvSpPr>
          <p:nvPr/>
        </p:nvSpPr>
        <p:spPr>
          <a:xfrm xmlns:a="http://schemas.openxmlformats.org/drawingml/2006/main">
            <a:off x="609600" y="1390650"/>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650" b="0">
                <a:solidFill>
                  <a:srgbClr val="67645E"/>
                </a:solidFill>
                <a:latin typeface="Arial"/>
                <a:ea typeface="Arial"/>
                <a:cs typeface="Arial"/>
              </a:defRPr>
            </a:pPr>
            <a:r>
              <a:rPr sz="1650" b="0">
                <a:solidFill>
                  <a:srgbClr val="67645E"/>
                </a:solidFill>
                <a:latin typeface="Arial"/>
                <a:ea typeface="Arial"/>
                <a:cs typeface="Arial"/>
              </a:rPr>
              <a:t>A scalable rehearsal layer for healthcare communication training</a:t>
            </a:r>
          </a:p>
        </p:txBody>
      </p:sp>
      <p:sp>
        <p:nvSpPr>
          <p:cNvPr id="6" name="">
            <a:extLst xmlns:a="http://schemas.openxmlformats.org/drawingml/2006/main">
              <a:ext uri="{FF2B5EF4-FFF2-40B4-BE49-F238E27FC236}">
                <a16:creationId xmlns:a16="http://schemas.microsoft.com/office/drawing/2014/main" id="{D08EA47E-16BA-47B0-886B-6D8C46B9D9F2}"/>
              </a:ext>
            </a:extLst>
          </p:cNvPr>
          <p:cNvSpPr>
            <a:spLocks xmlns:a="http://schemas.openxmlformats.org/drawingml/2006/main" noGrp="1"/>
          </p:cNvSpPr>
          <p:nvPr/>
        </p:nvSpPr>
        <p:spPr>
          <a:xfrm xmlns:a="http://schemas.openxmlformats.org/drawingml/2006/main">
            <a:off x="609600" y="20097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a:solidFill>
                  <a:srgbClr val="50664F"/>
                </a:solidFill>
                <a:latin typeface="Arial"/>
                <a:ea typeface="Arial"/>
                <a:cs typeface="Arial"/>
              </a:defRPr>
            </a:pPr>
            <a:r>
              <a:rPr sz="1050" b="1">
                <a:solidFill>
                  <a:srgbClr val="50664F"/>
                </a:solidFill>
                <a:latin typeface="Arial"/>
                <a:ea typeface="Arial"/>
                <a:cs typeface="Arial"/>
              </a:rPr>
              <a:t>THE GAP</a:t>
            </a:r>
          </a:p>
        </p:txBody>
      </p:sp>
      <p:sp>
        <p:nvSpPr>
          <p:cNvPr id="7" name="">
            <a:extLst xmlns:a="http://schemas.openxmlformats.org/drawingml/2006/main">
              <a:ext uri="{FF2B5EF4-FFF2-40B4-BE49-F238E27FC236}">
                <a16:creationId xmlns:a16="http://schemas.microsoft.com/office/drawing/2014/main" id="{31DFE5DB-4248-45C2-8AC6-AF4BB97B02AE}"/>
              </a:ext>
            </a:extLst>
          </p:cNvPr>
          <p:cNvSpPr>
            <a:spLocks xmlns:a="http://schemas.openxmlformats.org/drawingml/2006/main" noGrp="1"/>
          </p:cNvSpPr>
          <p:nvPr/>
        </p:nvSpPr>
        <p:spPr>
          <a:xfrm xmlns:a="http://schemas.openxmlformats.org/drawingml/2006/main">
            <a:off x="609600" y="2352675"/>
            <a:ext cx="4381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889"/>
          </a:bodyPr>
          <a:lstStyle xmlns:a="http://schemas.openxmlformats.org/drawingml/2006/main"/>
          <a:p xmlns:a="http://schemas.openxmlformats.org/drawingml/2006/main">
            <a:pPr algn="l">
              <a:lnSpc>
                <a:spcPct val="105000"/>
              </a:lnSpc>
              <a:buNone/>
              <a:defRPr sz="1875" b="1">
                <a:solidFill>
                  <a:srgbClr val="292722"/>
                </a:solidFill>
                <a:latin typeface="Arial"/>
                <a:ea typeface="Arial"/>
                <a:cs typeface="Arial"/>
              </a:defRPr>
            </a:pPr>
            <a:r>
              <a:rPr sz="1875" b="1">
                <a:solidFill>
                  <a:srgbClr val="292722"/>
                </a:solidFill>
                <a:latin typeface="Arial"/>
                <a:ea typeface="Arial"/>
                <a:cs typeface="Arial"/>
              </a:rPr>
              <a:t>Students need repeated practice with emotionally difficult conversations, but realistic actor sessions are costly, planning-heavy and capacity-limited.</a:t>
            </a:r>
          </a:p>
        </p:txBody>
      </p:sp>
      <p:sp>
        <p:nvSpPr>
          <p:cNvPr id="8" name="">
            <a:extLst xmlns:a="http://schemas.openxmlformats.org/drawingml/2006/main">
              <a:ext uri="{FF2B5EF4-FFF2-40B4-BE49-F238E27FC236}">
                <a16:creationId xmlns:a16="http://schemas.microsoft.com/office/drawing/2014/main" id="{2DE396A0-80DC-4C26-A9F7-D769AB5F0DD8}"/>
              </a:ext>
            </a:extLst>
          </p:cNvPr>
          <p:cNvSpPr>
            <a:spLocks xmlns:a="http://schemas.openxmlformats.org/drawingml/2006/main" noGrp="1"/>
          </p:cNvSpPr>
          <p:nvPr/>
        </p:nvSpPr>
        <p:spPr>
          <a:xfrm xmlns:a="http://schemas.openxmlformats.org/drawingml/2006/main">
            <a:off x="609600" y="3657600"/>
            <a:ext cx="4381500" cy="9525"/>
          </a:xfrm>
          <a:prstGeom xmlns:a="http://schemas.openxmlformats.org/drawingml/2006/main" prst="rect">
            <a:avLst/>
          </a:prstGeom>
          <a:solidFill xmlns:a="http://schemas.openxmlformats.org/drawingml/2006/main">
            <a:srgbClr val="DED9C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8833FE2-5616-4A82-825B-47E1116C8274}"/>
              </a:ext>
            </a:extLst>
          </p:cNvPr>
          <p:cNvSpPr>
            <a:spLocks xmlns:a="http://schemas.openxmlformats.org/drawingml/2006/main" noGrp="1"/>
          </p:cNvSpPr>
          <p:nvPr/>
        </p:nvSpPr>
        <p:spPr>
          <a:xfrm xmlns:a="http://schemas.openxmlformats.org/drawingml/2006/main">
            <a:off x="609600" y="3924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a:solidFill>
                  <a:srgbClr val="50664F"/>
                </a:solidFill>
                <a:latin typeface="Arial"/>
                <a:ea typeface="Arial"/>
                <a:cs typeface="Arial"/>
              </a:defRPr>
            </a:pPr>
            <a:r>
              <a:rPr sz="1050" b="1">
                <a:solidFill>
                  <a:srgbClr val="50664F"/>
                </a:solidFill>
                <a:latin typeface="Arial"/>
                <a:ea typeface="Arial"/>
                <a:cs typeface="Arial"/>
              </a:rPr>
              <a:t>THE PROPOSAL</a:t>
            </a:r>
          </a:p>
        </p:txBody>
      </p:sp>
      <p:sp>
        <p:nvSpPr>
          <p:cNvPr id="10" name="">
            <a:extLst xmlns:a="http://schemas.openxmlformats.org/drawingml/2006/main">
              <a:ext uri="{FF2B5EF4-FFF2-40B4-BE49-F238E27FC236}">
                <a16:creationId xmlns:a16="http://schemas.microsoft.com/office/drawing/2014/main" id="{423BDF2F-1454-470B-83A2-75716C67CA0B}"/>
              </a:ext>
            </a:extLst>
          </p:cNvPr>
          <p:cNvSpPr>
            <a:spLocks xmlns:a="http://schemas.openxmlformats.org/drawingml/2006/main" noGrp="1"/>
          </p:cNvSpPr>
          <p:nvPr/>
        </p:nvSpPr>
        <p:spPr>
          <a:xfrm xmlns:a="http://schemas.openxmlformats.org/drawingml/2006/main">
            <a:off x="609600" y="4267200"/>
            <a:ext cx="4381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248"/>
          </a:bodyPr>
          <a:lstStyle xmlns:a="http://schemas.openxmlformats.org/drawingml/2006/main"/>
          <a:p xmlns:a="http://schemas.openxmlformats.org/drawingml/2006/main">
            <a:pPr algn="l">
              <a:lnSpc>
                <a:spcPct val="108000"/>
              </a:lnSpc>
              <a:buNone/>
              <a:defRPr sz="1800" b="0">
                <a:solidFill>
                  <a:srgbClr val="67645E"/>
                </a:solidFill>
                <a:latin typeface="Arial"/>
                <a:ea typeface="Arial"/>
                <a:cs typeface="Arial"/>
              </a:defRPr>
            </a:pPr>
            <a:r>
              <a:rPr sz="1800" b="0">
                <a:solidFill>
                  <a:srgbClr val="67645E"/>
                </a:solidFill>
                <a:latin typeface="Arial"/>
                <a:ea typeface="Arial"/>
                <a:cs typeface="Arial"/>
              </a:rPr>
              <a:t>ClinicalMirror provides fictional AI patient role-play followed by immediate, evidence-linked formative feedback and a clear retry plan.</a:t>
            </a:r>
          </a:p>
        </p:txBody>
      </p:sp>
      <p:sp>
        <p:nvSpPr>
          <p:cNvPr id="11" name="">
            <a:extLst xmlns:a="http://schemas.openxmlformats.org/drawingml/2006/main">
              <a:ext uri="{FF2B5EF4-FFF2-40B4-BE49-F238E27FC236}">
                <a16:creationId xmlns:a16="http://schemas.microsoft.com/office/drawing/2014/main" id="{3B8C44C2-831A-467B-9FFF-54E3A9DA0696}"/>
              </a:ext>
            </a:extLst>
          </p:cNvPr>
          <p:cNvSpPr>
            <a:spLocks xmlns:a="http://schemas.openxmlformats.org/drawingml/2006/main" noGrp="1"/>
          </p:cNvSpPr>
          <p:nvPr/>
        </p:nvSpPr>
        <p:spPr>
          <a:xfrm xmlns:a="http://schemas.openxmlformats.org/drawingml/2006/main">
            <a:off x="609600" y="5581650"/>
            <a:ext cx="3714750" cy="323850"/>
          </a:xfrm>
          <a:prstGeom xmlns:a="http://schemas.openxmlformats.org/drawingml/2006/main" prst="roundRect">
            <a:avLst>
              <a:gd name="adj" fmla="val 23529"/>
            </a:avLst>
          </a:prstGeom>
          <a:solidFill xmlns:a="http://schemas.openxmlformats.org/drawingml/2006/main">
            <a:srgbClr val="FDEA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CA96755-FA30-4747-8104-8A9836D5AB37}"/>
              </a:ext>
            </a:extLst>
          </p:cNvPr>
          <p:cNvSpPr>
            <a:spLocks xmlns:a="http://schemas.openxmlformats.org/drawingml/2006/main" noGrp="1"/>
          </p:cNvSpPr>
          <p:nvPr/>
        </p:nvSpPr>
        <p:spPr>
          <a:xfrm xmlns:a="http://schemas.openxmlformats.org/drawingml/2006/main">
            <a:off x="685800" y="5648325"/>
            <a:ext cx="3562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1050" b="1">
                <a:solidFill>
                  <a:srgbClr val="814141"/>
                </a:solidFill>
                <a:latin typeface="Arial"/>
                <a:ea typeface="Arial"/>
                <a:cs typeface="Arial"/>
              </a:defRPr>
            </a:pPr>
            <a:r>
              <a:rPr sz="1050" b="1">
                <a:solidFill>
                  <a:srgbClr val="814141"/>
                </a:solidFill>
                <a:latin typeface="Arial"/>
                <a:ea typeface="Arial"/>
                <a:cs typeface="Arial"/>
              </a:rPr>
              <a:t>COMPLEMENTS—NOT REPLACES—FACULTY SIMULATION</a:t>
            </a:r>
          </a:p>
        </p:txBody>
      </p:sp>
      <p:sp>
        <p:nvSpPr>
          <p:cNvPr id="13" name="">
            <a:extLst xmlns:a="http://schemas.openxmlformats.org/drawingml/2006/main">
              <a:ext uri="{FF2B5EF4-FFF2-40B4-BE49-F238E27FC236}">
                <a16:creationId xmlns:a16="http://schemas.microsoft.com/office/drawing/2014/main" id="{303ED2F9-B1A0-4C8B-9CD6-22A728176D53}"/>
              </a:ext>
            </a:extLst>
          </p:cNvPr>
          <p:cNvSpPr>
            <a:spLocks xmlns:a="http://schemas.openxmlformats.org/drawingml/2006/main" noGrp="1"/>
          </p:cNvSpPr>
          <p:nvPr/>
        </p:nvSpPr>
        <p:spPr>
          <a:xfrm xmlns:a="http://schemas.openxmlformats.org/drawingml/2006/main">
            <a:off x="5572125" y="1971675"/>
            <a:ext cx="6076950" cy="3571875"/>
          </a:xfrm>
          <a:prstGeom xmlns:a="http://schemas.openxmlformats.org/drawingml/2006/main" prst="roundRect">
            <a:avLst>
              <a:gd name="adj" fmla="val 2400"/>
            </a:avLst>
          </a:prstGeom>
          <a:solidFill xmlns:a="http://schemas.openxmlformats.org/drawingml/2006/main">
            <a:srgbClr val="FFFFFF"/>
          </a:solidFill>
          <a:ln xmlns:a="http://schemas.openxmlformats.org/drawingml/2006/main" w="9525">
            <a:solidFill>
              <a:srgbClr val="DED9CF"/>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db582a63f8a4def"/>
          <a:srcRect xmlns:a="http://schemas.openxmlformats.org/drawingml/2006/main" l="0" t="9080" r="0" b="9080"/>
          <a:stretch xmlns:a="http://schemas.openxmlformats.org/drawingml/2006/main">
            <a:fillRect l="0" t="0" r="0" b="0"/>
          </a:stretch>
        </p:blipFill>
        <p:spPr>
          <a:xfrm xmlns:a="http://schemas.openxmlformats.org/drawingml/2006/main">
            <a:off x="5638800" y="2038350"/>
            <a:ext cx="5943600" cy="34385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050E6F0F-C1E5-4A1F-B837-4236607AFAEF}"/>
              </a:ext>
            </a:extLst>
          </p:cNvPr>
          <p:cNvSpPr>
            <a:spLocks xmlns:a="http://schemas.openxmlformats.org/drawingml/2006/main" noGrp="1"/>
          </p:cNvSpPr>
          <p:nvPr/>
        </p:nvSpPr>
        <p:spPr>
          <a:xfrm xmlns:a="http://schemas.openxmlformats.org/drawingml/2006/main">
            <a:off x="5638800" y="5772150"/>
            <a:ext cx="1428750" cy="47625"/>
          </a:xfrm>
          <a:prstGeom xmlns:a="http://schemas.openxmlformats.org/drawingml/2006/main" prst="rect">
            <a:avLst/>
          </a:prstGeom>
          <a:solidFill xmlns:a="http://schemas.openxmlformats.org/drawingml/2006/main">
            <a:srgbClr val="9EB29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E6B65E1-AFBE-483A-AFD2-C8FFF5E6BEF1}"/>
              </a:ext>
            </a:extLst>
          </p:cNvPr>
          <p:cNvSpPr>
            <a:spLocks xmlns:a="http://schemas.openxmlformats.org/drawingml/2006/main" noGrp="1"/>
          </p:cNvSpPr>
          <p:nvPr/>
        </p:nvSpPr>
        <p:spPr>
          <a:xfrm xmlns:a="http://schemas.openxmlformats.org/drawingml/2006/main">
            <a:off x="5638800" y="5943600"/>
            <a:ext cx="1571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350" b="1">
                <a:solidFill>
                  <a:srgbClr val="292722"/>
                </a:solidFill>
                <a:latin typeface="Arial"/>
                <a:ea typeface="Arial"/>
                <a:cs typeface="Arial"/>
              </a:defRPr>
            </a:pPr>
            <a:r>
              <a:rPr sz="1350" b="1">
                <a:solidFill>
                  <a:srgbClr val="292722"/>
                </a:solidFill>
                <a:latin typeface="Arial"/>
                <a:ea typeface="Arial"/>
                <a:cs typeface="Arial"/>
              </a:rPr>
              <a:t>REPEATABLE</a:t>
            </a:r>
          </a:p>
        </p:txBody>
      </p:sp>
      <p:sp>
        <p:nvSpPr>
          <p:cNvPr id="17" name="">
            <a:extLst xmlns:a="http://schemas.openxmlformats.org/drawingml/2006/main">
              <a:ext uri="{FF2B5EF4-FFF2-40B4-BE49-F238E27FC236}">
                <a16:creationId xmlns:a16="http://schemas.microsoft.com/office/drawing/2014/main" id="{4BB665E8-EBE6-4B7B-92BA-9D9BD68F98D2}"/>
              </a:ext>
            </a:extLst>
          </p:cNvPr>
          <p:cNvSpPr>
            <a:spLocks xmlns:a="http://schemas.openxmlformats.org/drawingml/2006/main" noGrp="1"/>
          </p:cNvSpPr>
          <p:nvPr/>
        </p:nvSpPr>
        <p:spPr>
          <a:xfrm xmlns:a="http://schemas.openxmlformats.org/drawingml/2006/main">
            <a:off x="5638800" y="6257925"/>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91"/>
          </a:bodyPr>
          <a:lstStyle xmlns:a="http://schemas.openxmlformats.org/drawingml/2006/main"/>
          <a:p xmlns:a="http://schemas.openxmlformats.org/drawingml/2006/main">
            <a:pPr algn="l">
              <a:lnSpc>
                <a:spcPct val="108000"/>
              </a:lnSpc>
              <a:buNone/>
              <a:defRPr sz="1200" b="0">
                <a:solidFill>
                  <a:srgbClr val="67645E"/>
                </a:solidFill>
                <a:latin typeface="Arial"/>
                <a:ea typeface="Arial"/>
                <a:cs typeface="Arial"/>
              </a:defRPr>
            </a:pPr>
            <a:r>
              <a:rPr sz="1200" b="0">
                <a:solidFill>
                  <a:srgbClr val="67645E"/>
                </a:solidFill>
                <a:latin typeface="Arial"/>
                <a:ea typeface="Arial"/>
                <a:cs typeface="Arial"/>
              </a:rPr>
              <a:t>Practise again without booking another session.</a:t>
            </a:r>
          </a:p>
        </p:txBody>
      </p:sp>
      <p:sp>
        <p:nvSpPr>
          <p:cNvPr id="18" name="">
            <a:extLst xmlns:a="http://schemas.openxmlformats.org/drawingml/2006/main">
              <a:ext uri="{FF2B5EF4-FFF2-40B4-BE49-F238E27FC236}">
                <a16:creationId xmlns:a16="http://schemas.microsoft.com/office/drawing/2014/main" id="{590FD663-CD85-4688-BDDB-69A54F42F626}"/>
              </a:ext>
            </a:extLst>
          </p:cNvPr>
          <p:cNvSpPr>
            <a:spLocks xmlns:a="http://schemas.openxmlformats.org/drawingml/2006/main" noGrp="1"/>
          </p:cNvSpPr>
          <p:nvPr/>
        </p:nvSpPr>
        <p:spPr>
          <a:xfrm xmlns:a="http://schemas.openxmlformats.org/drawingml/2006/main">
            <a:off x="7658100" y="5772150"/>
            <a:ext cx="1428750" cy="47625"/>
          </a:xfrm>
          <a:prstGeom xmlns:a="http://schemas.openxmlformats.org/drawingml/2006/main" prst="rect">
            <a:avLst/>
          </a:prstGeom>
          <a:solidFill xmlns:a="http://schemas.openxmlformats.org/drawingml/2006/main">
            <a:srgbClr val="9EC5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7DE94F7-66C0-4BF0-987B-E134B9FEB943}"/>
              </a:ext>
            </a:extLst>
          </p:cNvPr>
          <p:cNvSpPr>
            <a:spLocks xmlns:a="http://schemas.openxmlformats.org/drawingml/2006/main" noGrp="1"/>
          </p:cNvSpPr>
          <p:nvPr/>
        </p:nvSpPr>
        <p:spPr>
          <a:xfrm xmlns:a="http://schemas.openxmlformats.org/drawingml/2006/main">
            <a:off x="7658100" y="5943600"/>
            <a:ext cx="1571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350" b="1">
                <a:solidFill>
                  <a:srgbClr val="292722"/>
                </a:solidFill>
                <a:latin typeface="Arial"/>
                <a:ea typeface="Arial"/>
                <a:cs typeface="Arial"/>
              </a:defRPr>
            </a:pPr>
            <a:r>
              <a:rPr sz="1350" b="1">
                <a:solidFill>
                  <a:srgbClr val="292722"/>
                </a:solidFill>
                <a:latin typeface="Arial"/>
                <a:ea typeface="Arial"/>
                <a:cs typeface="Arial"/>
              </a:rPr>
              <a:t>RESPONSIVE</a:t>
            </a:r>
          </a:p>
        </p:txBody>
      </p:sp>
      <p:sp>
        <p:nvSpPr>
          <p:cNvPr id="20" name="">
            <a:extLst xmlns:a="http://schemas.openxmlformats.org/drawingml/2006/main">
              <a:ext uri="{FF2B5EF4-FFF2-40B4-BE49-F238E27FC236}">
                <a16:creationId xmlns:a16="http://schemas.microsoft.com/office/drawing/2014/main" id="{FCE02EE5-E455-40AA-99BD-439BE033BEDA}"/>
              </a:ext>
            </a:extLst>
          </p:cNvPr>
          <p:cNvSpPr>
            <a:spLocks xmlns:a="http://schemas.openxmlformats.org/drawingml/2006/main" noGrp="1"/>
          </p:cNvSpPr>
          <p:nvPr/>
        </p:nvSpPr>
        <p:spPr>
          <a:xfrm xmlns:a="http://schemas.openxmlformats.org/drawingml/2006/main">
            <a:off x="7658100" y="6257925"/>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67645E"/>
                </a:solidFill>
                <a:latin typeface="Arial"/>
                <a:ea typeface="Arial"/>
                <a:cs typeface="Arial"/>
              </a:defRPr>
            </a:pPr>
            <a:r>
              <a:rPr sz="1200" b="0">
                <a:solidFill>
                  <a:srgbClr val="67645E"/>
                </a:solidFill>
                <a:latin typeface="Arial"/>
                <a:ea typeface="Arial"/>
                <a:cs typeface="Arial"/>
              </a:rPr>
              <a:t>Patient replies adapt to learner wording.</a:t>
            </a:r>
          </a:p>
        </p:txBody>
      </p:sp>
      <p:sp>
        <p:nvSpPr>
          <p:cNvPr id="21" name="">
            <a:extLst xmlns:a="http://schemas.openxmlformats.org/drawingml/2006/main">
              <a:ext uri="{FF2B5EF4-FFF2-40B4-BE49-F238E27FC236}">
                <a16:creationId xmlns:a16="http://schemas.microsoft.com/office/drawing/2014/main" id="{098DC7FD-B45B-40F6-9CC1-318E3583D4A8}"/>
              </a:ext>
            </a:extLst>
          </p:cNvPr>
          <p:cNvSpPr>
            <a:spLocks xmlns:a="http://schemas.openxmlformats.org/drawingml/2006/main" noGrp="1"/>
          </p:cNvSpPr>
          <p:nvPr/>
        </p:nvSpPr>
        <p:spPr>
          <a:xfrm xmlns:a="http://schemas.openxmlformats.org/drawingml/2006/main">
            <a:off x="9677400" y="5772150"/>
            <a:ext cx="1428750" cy="47625"/>
          </a:xfrm>
          <a:prstGeom xmlns:a="http://schemas.openxmlformats.org/drawingml/2006/main" prst="rect">
            <a:avLst/>
          </a:prstGeom>
          <a:solidFill xmlns:a="http://schemas.openxmlformats.org/drawingml/2006/main">
            <a:srgbClr val="FAB47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6CE988B-D23F-4470-851B-3DE03DE9FA24}"/>
              </a:ext>
            </a:extLst>
          </p:cNvPr>
          <p:cNvSpPr>
            <a:spLocks xmlns:a="http://schemas.openxmlformats.org/drawingml/2006/main" noGrp="1"/>
          </p:cNvSpPr>
          <p:nvPr/>
        </p:nvSpPr>
        <p:spPr>
          <a:xfrm xmlns:a="http://schemas.openxmlformats.org/drawingml/2006/main">
            <a:off x="9677400" y="5943600"/>
            <a:ext cx="1571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350" b="1">
                <a:solidFill>
                  <a:srgbClr val="292722"/>
                </a:solidFill>
                <a:latin typeface="Arial"/>
                <a:ea typeface="Arial"/>
                <a:cs typeface="Arial"/>
              </a:defRPr>
            </a:pPr>
            <a:r>
              <a:rPr sz="1350" b="1">
                <a:solidFill>
                  <a:srgbClr val="292722"/>
                </a:solidFill>
                <a:latin typeface="Arial"/>
                <a:ea typeface="Arial"/>
                <a:cs typeface="Arial"/>
              </a:rPr>
              <a:t>ACTIONABLE</a:t>
            </a:r>
          </a:p>
        </p:txBody>
      </p:sp>
      <p:sp>
        <p:nvSpPr>
          <p:cNvPr id="23" name="">
            <a:extLst xmlns:a="http://schemas.openxmlformats.org/drawingml/2006/main">
              <a:ext uri="{FF2B5EF4-FFF2-40B4-BE49-F238E27FC236}">
                <a16:creationId xmlns:a16="http://schemas.microsoft.com/office/drawing/2014/main" id="{41678065-0FC8-40D7-9996-059DC89F2C87}"/>
              </a:ext>
            </a:extLst>
          </p:cNvPr>
          <p:cNvSpPr>
            <a:spLocks xmlns:a="http://schemas.openxmlformats.org/drawingml/2006/main" noGrp="1"/>
          </p:cNvSpPr>
          <p:nvPr/>
        </p:nvSpPr>
        <p:spPr>
          <a:xfrm xmlns:a="http://schemas.openxmlformats.org/drawingml/2006/main">
            <a:off x="9677400" y="6257925"/>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67645E"/>
                </a:solidFill>
                <a:latin typeface="Arial"/>
                <a:ea typeface="Arial"/>
                <a:cs typeface="Arial"/>
              </a:defRPr>
            </a:pPr>
            <a:r>
              <a:rPr sz="1200" b="0">
                <a:solidFill>
                  <a:srgbClr val="67645E"/>
                </a:solidFill>
                <a:latin typeface="Arial"/>
                <a:ea typeface="Arial"/>
                <a:cs typeface="Arial"/>
              </a:rPr>
              <a:t>Feedback cites exact turns and next moves.</a:t>
            </a:r>
          </a:p>
        </p:txBody>
      </p:sp>
    </p:spTree>
    <p:extLst>
      <p:ext uri="{BB962C8B-B14F-4D97-AF65-F5344CB8AC3E}">
        <p14:creationId xmlns:p14="http://schemas.microsoft.com/office/powerpoint/2010/main" val="2127700859"/>
      </p:ext>
    </p:extLst>
  </p:cSld>
</p:sld>
</file>

<file path=ppt/slides/slide2.xml><?xml version="1.0" encoding="utf-8"?>
<p:sld xmlns:p="http://schemas.openxmlformats.org/presentationml/2006/main">
  <p:cSld>
    <p:bg>
      <p:bgPr>
        <a:solidFill xmlns:a="http://schemas.openxmlformats.org/drawingml/2006/main">
          <a:srgbClr val="FDFBF7"/>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8ADE388-A023-4F26-8EE8-9A94B8BF34A6}"/>
              </a:ext>
            </a:extLst>
          </p:cNvPr>
          <p:cNvSpPr>
            <a:spLocks xmlns:a="http://schemas.openxmlformats.org/drawingml/2006/main" noGrp="1"/>
          </p:cNvSpPr>
          <p:nvPr/>
        </p:nvSpPr>
        <p:spPr>
          <a:xfrm xmlns:a="http://schemas.openxmlformats.org/drawingml/2006/main">
            <a:off x="609600" y="29527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75" b="1">
                <a:solidFill>
                  <a:srgbClr val="50664F"/>
                </a:solidFill>
                <a:latin typeface="Arial"/>
                <a:ea typeface="Arial"/>
                <a:cs typeface="Arial"/>
              </a:defRPr>
            </a:pPr>
            <a:r>
              <a:rPr sz="975" b="1">
                <a:solidFill>
                  <a:srgbClr val="50664F"/>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C4464816-AC7F-4512-B10A-856BF419DBA2}"/>
              </a:ext>
            </a:extLst>
          </p:cNvPr>
          <p:cNvSpPr>
            <a:spLocks xmlns:a="http://schemas.openxmlformats.org/drawingml/2006/main" noGrp="1"/>
          </p:cNvSpPr>
          <p:nvPr/>
        </p:nvSpPr>
        <p:spPr>
          <a:xfrm xmlns:a="http://schemas.openxmlformats.org/drawingml/2006/main">
            <a:off x="10668000" y="295275"/>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6000"/>
              </a:lnSpc>
              <a:buNone/>
              <a:defRPr sz="975" b="1">
                <a:solidFill>
                  <a:srgbClr val="969087"/>
                </a:solidFill>
                <a:latin typeface="Arial"/>
                <a:ea typeface="Arial"/>
                <a:cs typeface="Arial"/>
              </a:defRPr>
            </a:pPr>
            <a:r>
              <a:rPr sz="975" b="1">
                <a:solidFill>
                  <a:srgbClr val="969087"/>
                </a:solidFill>
                <a:latin typeface="Arial"/>
                <a:ea typeface="Arial"/>
                <a:cs typeface="Arial"/>
              </a:rPr>
              <a:t>02 / 02</a:t>
            </a:r>
          </a:p>
        </p:txBody>
      </p:sp>
      <p:sp>
        <p:nvSpPr>
          <p:cNvPr id="3" name="">
            <a:extLst xmlns:a="http://schemas.openxmlformats.org/drawingml/2006/main">
              <a:ext uri="{FF2B5EF4-FFF2-40B4-BE49-F238E27FC236}">
                <a16:creationId xmlns:a16="http://schemas.microsoft.com/office/drawing/2014/main" id="{9C11B1E8-A3D9-4F46-ADF5-8966393A21F7}"/>
              </a:ext>
            </a:extLst>
          </p:cNvPr>
          <p:cNvSpPr>
            <a:spLocks xmlns:a="http://schemas.openxmlformats.org/drawingml/2006/main" noGrp="1"/>
          </p:cNvSpPr>
          <p:nvPr/>
        </p:nvSpPr>
        <p:spPr>
          <a:xfrm xmlns:a="http://schemas.openxmlformats.org/drawingml/2006/main">
            <a:off x="609600" y="600075"/>
            <a:ext cx="10972800" cy="9525"/>
          </a:xfrm>
          <a:prstGeom xmlns:a="http://schemas.openxmlformats.org/drawingml/2006/main" prst="rect">
            <a:avLst/>
          </a:prstGeom>
          <a:solidFill xmlns:a="http://schemas.openxmlformats.org/drawingml/2006/main">
            <a:srgbClr val="DED9C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248413F-2783-45B3-BD05-660CDFAA92D0}"/>
              </a:ext>
            </a:extLst>
          </p:cNvPr>
          <p:cNvSpPr>
            <a:spLocks xmlns:a="http://schemas.openxmlformats.org/drawingml/2006/main" noGrp="1"/>
          </p:cNvSpPr>
          <p:nvPr/>
        </p:nvSpPr>
        <p:spPr>
          <a:xfrm xmlns:a="http://schemas.openxmlformats.org/drawingml/2006/main">
            <a:off x="609600" y="7810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525" b="1">
                <a:solidFill>
                  <a:srgbClr val="292722"/>
                </a:solidFill>
                <a:latin typeface="Arial"/>
                <a:ea typeface="Arial"/>
                <a:cs typeface="Arial"/>
              </a:defRPr>
            </a:pPr>
            <a:r>
              <a:rPr sz="3525" b="1">
                <a:solidFill>
                  <a:srgbClr val="292722"/>
                </a:solidFill>
                <a:latin typeface="Arial"/>
                <a:ea typeface="Arial"/>
                <a:cs typeface="Arial"/>
              </a:rPr>
              <a:t>Working prototype. Next step: validation.</a:t>
            </a:r>
          </a:p>
        </p:txBody>
      </p:sp>
      <p:sp>
        <p:nvSpPr>
          <p:cNvPr id="5" name="">
            <a:extLst xmlns:a="http://schemas.openxmlformats.org/drawingml/2006/main">
              <a:ext uri="{FF2B5EF4-FFF2-40B4-BE49-F238E27FC236}">
                <a16:creationId xmlns:a16="http://schemas.microsoft.com/office/drawing/2014/main" id="{E3F296C3-0CCF-4FB0-9B8C-20AB386C4E43}"/>
              </a:ext>
            </a:extLst>
          </p:cNvPr>
          <p:cNvSpPr>
            <a:spLocks xmlns:a="http://schemas.openxmlformats.org/drawingml/2006/main" noGrp="1"/>
          </p:cNvSpPr>
          <p:nvPr/>
        </p:nvSpPr>
        <p:spPr>
          <a:xfrm xmlns:a="http://schemas.openxmlformats.org/drawingml/2006/main">
            <a:off x="609600" y="1390650"/>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650" b="0">
                <a:solidFill>
                  <a:srgbClr val="67645E"/>
                </a:solidFill>
                <a:latin typeface="Arial"/>
                <a:ea typeface="Arial"/>
                <a:cs typeface="Arial"/>
              </a:defRPr>
            </a:pPr>
            <a:r>
              <a:rPr sz="1650" b="0">
                <a:solidFill>
                  <a:srgbClr val="67645E"/>
                </a:solidFill>
                <a:latin typeface="Arial"/>
                <a:ea typeface="Arial"/>
                <a:cs typeface="Arial"/>
              </a:rPr>
              <a:t>Current capability, safeguards and a realistic pilot path</a:t>
            </a:r>
          </a:p>
        </p:txBody>
      </p:sp>
      <p:sp>
        <p:nvSpPr>
          <p:cNvPr id="6" name="">
            <a:extLst xmlns:a="http://schemas.openxmlformats.org/drawingml/2006/main">
              <a:ext uri="{FF2B5EF4-FFF2-40B4-BE49-F238E27FC236}">
                <a16:creationId xmlns:a16="http://schemas.microsoft.com/office/drawing/2014/main" id="{0D26C0C8-8E0B-4EEA-8ADF-536036C7EB44}"/>
              </a:ext>
            </a:extLst>
          </p:cNvPr>
          <p:cNvSpPr>
            <a:spLocks xmlns:a="http://schemas.openxmlformats.org/drawingml/2006/main" noGrp="1"/>
          </p:cNvSpPr>
          <p:nvPr/>
        </p:nvSpPr>
        <p:spPr>
          <a:xfrm xmlns:a="http://schemas.openxmlformats.org/drawingml/2006/main">
            <a:off x="609600" y="1943100"/>
            <a:ext cx="2495550" cy="800100"/>
          </a:xfrm>
          <a:prstGeom xmlns:a="http://schemas.openxmlformats.org/drawingml/2006/main" prst="rect">
            <a:avLst/>
          </a:prstGeom>
          <a:solidFill xmlns:a="http://schemas.openxmlformats.org/drawingml/2006/main">
            <a:srgbClr val="EEF2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56B7A0B-1CF6-4B39-94B5-EAD5CE395D15}"/>
              </a:ext>
            </a:extLst>
          </p:cNvPr>
          <p:cNvSpPr>
            <a:spLocks xmlns:a="http://schemas.openxmlformats.org/drawingml/2006/main" noGrp="1"/>
          </p:cNvSpPr>
          <p:nvPr/>
        </p:nvSpPr>
        <p:spPr>
          <a:xfrm xmlns:a="http://schemas.openxmlformats.org/drawingml/2006/main">
            <a:off x="742950" y="2066925"/>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625" b="1">
                <a:solidFill>
                  <a:srgbClr val="292722"/>
                </a:solidFill>
                <a:latin typeface="Arial"/>
                <a:ea typeface="Arial"/>
                <a:cs typeface="Arial"/>
              </a:defRPr>
            </a:pPr>
            <a:r>
              <a:rPr sz="2625" b="1">
                <a:solidFill>
                  <a:srgbClr val="292722"/>
                </a:solidFill>
                <a:latin typeface="Arial"/>
                <a:ea typeface="Arial"/>
                <a:cs typeface="Arial"/>
              </a:rPr>
              <a:t>4</a:t>
            </a:r>
          </a:p>
        </p:txBody>
      </p:sp>
      <p:sp>
        <p:nvSpPr>
          <p:cNvPr id="8" name="">
            <a:extLst xmlns:a="http://schemas.openxmlformats.org/drawingml/2006/main">
              <a:ext uri="{FF2B5EF4-FFF2-40B4-BE49-F238E27FC236}">
                <a16:creationId xmlns:a16="http://schemas.microsoft.com/office/drawing/2014/main" id="{43DFD564-8F27-4AA3-89A8-E861A9D4F83C}"/>
              </a:ext>
            </a:extLst>
          </p:cNvPr>
          <p:cNvSpPr>
            <a:spLocks xmlns:a="http://schemas.openxmlformats.org/drawingml/2006/main" noGrp="1"/>
          </p:cNvSpPr>
          <p:nvPr/>
        </p:nvSpPr>
        <p:spPr>
          <a:xfrm xmlns:a="http://schemas.openxmlformats.org/drawingml/2006/main">
            <a:off x="1447800" y="2114550"/>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292722"/>
                </a:solidFill>
                <a:latin typeface="Arial"/>
                <a:ea typeface="Arial"/>
                <a:cs typeface="Arial"/>
              </a:defRPr>
            </a:pPr>
            <a:r>
              <a:rPr sz="1200" b="1">
                <a:solidFill>
                  <a:srgbClr val="292722"/>
                </a:solidFill>
                <a:latin typeface="Arial"/>
                <a:ea typeface="Arial"/>
                <a:cs typeface="Arial"/>
              </a:rPr>
              <a:t>configured scenarios</a:t>
            </a:r>
          </a:p>
        </p:txBody>
      </p:sp>
      <p:sp>
        <p:nvSpPr>
          <p:cNvPr id="9" name="">
            <a:extLst xmlns:a="http://schemas.openxmlformats.org/drawingml/2006/main">
              <a:ext uri="{FF2B5EF4-FFF2-40B4-BE49-F238E27FC236}">
                <a16:creationId xmlns:a16="http://schemas.microsoft.com/office/drawing/2014/main" id="{B0ACB27C-371C-4618-8EAA-C3ACB70F4662}"/>
              </a:ext>
            </a:extLst>
          </p:cNvPr>
          <p:cNvSpPr>
            <a:spLocks xmlns:a="http://schemas.openxmlformats.org/drawingml/2006/main" noGrp="1"/>
          </p:cNvSpPr>
          <p:nvPr/>
        </p:nvSpPr>
        <p:spPr>
          <a:xfrm xmlns:a="http://schemas.openxmlformats.org/drawingml/2006/main">
            <a:off x="3238500" y="1943100"/>
            <a:ext cx="2724150" cy="8001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CB81CB-7FD4-484D-A5E9-318F07673FCF}"/>
              </a:ext>
            </a:extLst>
          </p:cNvPr>
          <p:cNvSpPr>
            <a:spLocks xmlns:a="http://schemas.openxmlformats.org/drawingml/2006/main" noGrp="1"/>
          </p:cNvSpPr>
          <p:nvPr/>
        </p:nvSpPr>
        <p:spPr>
          <a:xfrm xmlns:a="http://schemas.openxmlformats.org/drawingml/2006/main">
            <a:off x="3371850" y="2066925"/>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625" b="1">
                <a:solidFill>
                  <a:srgbClr val="292722"/>
                </a:solidFill>
                <a:latin typeface="Arial"/>
                <a:ea typeface="Arial"/>
                <a:cs typeface="Arial"/>
              </a:defRPr>
            </a:pPr>
            <a:r>
              <a:rPr sz="2625" b="1">
                <a:solidFill>
                  <a:srgbClr val="292722"/>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DF6D7EA1-902B-4C26-AD60-4DEB160C626F}"/>
              </a:ext>
            </a:extLst>
          </p:cNvPr>
          <p:cNvSpPr>
            <a:spLocks xmlns:a="http://schemas.openxmlformats.org/drawingml/2006/main" noGrp="1"/>
          </p:cNvSpPr>
          <p:nvPr/>
        </p:nvSpPr>
        <p:spPr>
          <a:xfrm xmlns:a="http://schemas.openxmlformats.org/drawingml/2006/main">
            <a:off x="4076700" y="2114550"/>
            <a:ext cx="17526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292722"/>
                </a:solidFill>
                <a:latin typeface="Arial"/>
                <a:ea typeface="Arial"/>
                <a:cs typeface="Arial"/>
              </a:defRPr>
            </a:pPr>
            <a:r>
              <a:rPr sz="1200" b="1">
                <a:solidFill>
                  <a:srgbClr val="292722"/>
                </a:solidFill>
                <a:latin typeface="Arial"/>
                <a:ea typeface="Arial"/>
                <a:cs typeface="Arial"/>
              </a:rPr>
              <a:t>available now; one held for faculty review</a:t>
            </a:r>
          </a:p>
        </p:txBody>
      </p:sp>
      <p:sp>
        <p:nvSpPr>
          <p:cNvPr id="12" name="">
            <a:extLst xmlns:a="http://schemas.openxmlformats.org/drawingml/2006/main">
              <a:ext uri="{FF2B5EF4-FFF2-40B4-BE49-F238E27FC236}">
                <a16:creationId xmlns:a16="http://schemas.microsoft.com/office/drawing/2014/main" id="{72A33C95-9B92-4766-8BF1-7E352478A02E}"/>
              </a:ext>
            </a:extLst>
          </p:cNvPr>
          <p:cNvSpPr>
            <a:spLocks xmlns:a="http://schemas.openxmlformats.org/drawingml/2006/main" noGrp="1"/>
          </p:cNvSpPr>
          <p:nvPr/>
        </p:nvSpPr>
        <p:spPr>
          <a:xfrm xmlns:a="http://schemas.openxmlformats.org/drawingml/2006/main">
            <a:off x="6096000" y="1943100"/>
            <a:ext cx="2514600" cy="800100"/>
          </a:xfrm>
          <a:prstGeom xmlns:a="http://schemas.openxmlformats.org/drawingml/2006/main" prst="rect">
            <a:avLst/>
          </a:prstGeom>
          <a:solidFill xmlns:a="http://schemas.openxmlformats.org/drawingml/2006/main">
            <a:srgbClr val="EAF3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EF579B7-DBB7-49F4-B646-A86CC980679F}"/>
              </a:ext>
            </a:extLst>
          </p:cNvPr>
          <p:cNvSpPr>
            <a:spLocks xmlns:a="http://schemas.openxmlformats.org/drawingml/2006/main" noGrp="1"/>
          </p:cNvSpPr>
          <p:nvPr/>
        </p:nvSpPr>
        <p:spPr>
          <a:xfrm xmlns:a="http://schemas.openxmlformats.org/drawingml/2006/main">
            <a:off x="6229350" y="2066925"/>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625" b="1">
                <a:solidFill>
                  <a:srgbClr val="292722"/>
                </a:solidFill>
                <a:latin typeface="Arial"/>
                <a:ea typeface="Arial"/>
                <a:cs typeface="Arial"/>
              </a:defRPr>
            </a:pPr>
            <a:r>
              <a:rPr sz="2625" b="1">
                <a:solidFill>
                  <a:srgbClr val="292722"/>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AD955FC5-1129-4516-9065-AE00EF0AEED6}"/>
              </a:ext>
            </a:extLst>
          </p:cNvPr>
          <p:cNvSpPr>
            <a:spLocks xmlns:a="http://schemas.openxmlformats.org/drawingml/2006/main" noGrp="1"/>
          </p:cNvSpPr>
          <p:nvPr/>
        </p:nvSpPr>
        <p:spPr>
          <a:xfrm xmlns:a="http://schemas.openxmlformats.org/drawingml/2006/main">
            <a:off x="6934200" y="2114550"/>
            <a:ext cx="15430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292722"/>
                </a:solidFill>
                <a:latin typeface="Arial"/>
                <a:ea typeface="Arial"/>
                <a:cs typeface="Arial"/>
              </a:defRPr>
            </a:pPr>
            <a:r>
              <a:rPr sz="1200" b="1">
                <a:solidFill>
                  <a:srgbClr val="292722"/>
                </a:solidFill>
                <a:latin typeface="Arial"/>
                <a:ea typeface="Arial"/>
                <a:cs typeface="Arial"/>
              </a:rPr>
              <a:t>input modes: voice + text</a:t>
            </a:r>
          </a:p>
        </p:txBody>
      </p:sp>
      <p:sp>
        <p:nvSpPr>
          <p:cNvPr id="15" name="">
            <a:extLst xmlns:a="http://schemas.openxmlformats.org/drawingml/2006/main">
              <a:ext uri="{FF2B5EF4-FFF2-40B4-BE49-F238E27FC236}">
                <a16:creationId xmlns:a16="http://schemas.microsoft.com/office/drawing/2014/main" id="{AA7223E4-F947-4742-8676-F363779B5F7E}"/>
              </a:ext>
            </a:extLst>
          </p:cNvPr>
          <p:cNvSpPr>
            <a:spLocks xmlns:a="http://schemas.openxmlformats.org/drawingml/2006/main" noGrp="1"/>
          </p:cNvSpPr>
          <p:nvPr/>
        </p:nvSpPr>
        <p:spPr>
          <a:xfrm xmlns:a="http://schemas.openxmlformats.org/drawingml/2006/main">
            <a:off x="8743950" y="1943100"/>
            <a:ext cx="2838450" cy="800100"/>
          </a:xfrm>
          <a:prstGeom xmlns:a="http://schemas.openxmlformats.org/drawingml/2006/main" prst="rect">
            <a:avLst/>
          </a:prstGeom>
          <a:solidFill xmlns:a="http://schemas.openxmlformats.org/drawingml/2006/main">
            <a:srgbClr val="FDEAE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BFA02CF-D1A8-42E0-B6D5-6032B4620C52}"/>
              </a:ext>
            </a:extLst>
          </p:cNvPr>
          <p:cNvSpPr>
            <a:spLocks xmlns:a="http://schemas.openxmlformats.org/drawingml/2006/main" noGrp="1"/>
          </p:cNvSpPr>
          <p:nvPr/>
        </p:nvSpPr>
        <p:spPr>
          <a:xfrm xmlns:a="http://schemas.openxmlformats.org/drawingml/2006/main">
            <a:off x="8877300" y="2066925"/>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625" b="1">
                <a:solidFill>
                  <a:srgbClr val="292722"/>
                </a:solidFill>
                <a:latin typeface="Arial"/>
                <a:ea typeface="Arial"/>
                <a:cs typeface="Arial"/>
              </a:defRPr>
            </a:pPr>
            <a:r>
              <a:rPr sz="2625" b="1">
                <a:solidFill>
                  <a:srgbClr val="292722"/>
                </a:solidFill>
                <a:latin typeface="Arial"/>
                <a:ea typeface="Arial"/>
                <a:cs typeface="Arial"/>
              </a:rPr>
              <a:t>0</a:t>
            </a:r>
          </a:p>
        </p:txBody>
      </p:sp>
      <p:sp>
        <p:nvSpPr>
          <p:cNvPr id="17" name="">
            <a:extLst xmlns:a="http://schemas.openxmlformats.org/drawingml/2006/main">
              <a:ext uri="{FF2B5EF4-FFF2-40B4-BE49-F238E27FC236}">
                <a16:creationId xmlns:a16="http://schemas.microsoft.com/office/drawing/2014/main" id="{852ED0AE-8F00-4C4F-BE4B-7AA9E5B1331F}"/>
              </a:ext>
            </a:extLst>
          </p:cNvPr>
          <p:cNvSpPr>
            <a:spLocks xmlns:a="http://schemas.openxmlformats.org/drawingml/2006/main" noGrp="1"/>
          </p:cNvSpPr>
          <p:nvPr/>
        </p:nvSpPr>
        <p:spPr>
          <a:xfrm xmlns:a="http://schemas.openxmlformats.org/drawingml/2006/main">
            <a:off x="9582150" y="2114550"/>
            <a:ext cx="18669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292722"/>
                </a:solidFill>
                <a:latin typeface="Arial"/>
                <a:ea typeface="Arial"/>
                <a:cs typeface="Arial"/>
              </a:defRPr>
            </a:pPr>
            <a:r>
              <a:rPr sz="1200" b="1">
                <a:solidFill>
                  <a:srgbClr val="292722"/>
                </a:solidFill>
                <a:latin typeface="Arial"/>
                <a:ea typeface="Arial"/>
                <a:cs typeface="Arial"/>
              </a:rPr>
              <a:t>database installs required</a:t>
            </a:r>
          </a:p>
        </p:txBody>
      </p:sp>
      <p:sp>
        <p:nvSpPr>
          <p:cNvPr id="18" name="">
            <a:extLst xmlns:a="http://schemas.openxmlformats.org/drawingml/2006/main">
              <a:ext uri="{FF2B5EF4-FFF2-40B4-BE49-F238E27FC236}">
                <a16:creationId xmlns:a16="http://schemas.microsoft.com/office/drawing/2014/main" id="{AEC69BF7-707E-47BB-9D7C-11E23CD30C5F}"/>
              </a:ext>
            </a:extLst>
          </p:cNvPr>
          <p:cNvSpPr>
            <a:spLocks xmlns:a="http://schemas.openxmlformats.org/drawingml/2006/main" noGrp="1"/>
          </p:cNvSpPr>
          <p:nvPr/>
        </p:nvSpPr>
        <p:spPr>
          <a:xfrm xmlns:a="http://schemas.openxmlformats.org/drawingml/2006/main">
            <a:off x="542925" y="3076575"/>
            <a:ext cx="5981700" cy="3429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DED9CF"/>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47fa4dbba02342a2"/>
          <a:stretch xmlns:a="http://schemas.openxmlformats.org/drawingml/2006/main"/>
        </p:blipFill>
        <p:spPr>
          <a:xfrm xmlns:a="http://schemas.openxmlformats.org/drawingml/2006/main">
            <a:off x="609600" y="3145654"/>
            <a:ext cx="5848350" cy="3290843"/>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E7C67EA2-11F7-4FCD-B509-24486109B74C}"/>
              </a:ext>
            </a:extLst>
          </p:cNvPr>
          <p:cNvSpPr>
            <a:spLocks xmlns:a="http://schemas.openxmlformats.org/drawingml/2006/main" noGrp="1"/>
          </p:cNvSpPr>
          <p:nvPr/>
        </p:nvSpPr>
        <p:spPr>
          <a:xfrm xmlns:a="http://schemas.openxmlformats.org/drawingml/2006/main">
            <a:off x="6858000" y="31432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a:solidFill>
                  <a:srgbClr val="50664F"/>
                </a:solidFill>
                <a:latin typeface="Arial"/>
                <a:ea typeface="Arial"/>
                <a:cs typeface="Arial"/>
              </a:defRPr>
            </a:pPr>
            <a:r>
              <a:rPr sz="1050" b="1">
                <a:solidFill>
                  <a:srgbClr val="50664F"/>
                </a:solidFill>
                <a:latin typeface="Arial"/>
                <a:ea typeface="Arial"/>
                <a:cs typeface="Arial"/>
              </a:rPr>
              <a:t>WORKING FLOW</a:t>
            </a:r>
          </a:p>
        </p:txBody>
      </p:sp>
      <p:sp>
        <p:nvSpPr>
          <p:cNvPr id="21" name="">
            <a:extLst xmlns:a="http://schemas.openxmlformats.org/drawingml/2006/main">
              <a:ext uri="{FF2B5EF4-FFF2-40B4-BE49-F238E27FC236}">
                <a16:creationId xmlns:a16="http://schemas.microsoft.com/office/drawing/2014/main" id="{E14C1C66-E128-4E15-849C-C7A189522449}"/>
              </a:ext>
            </a:extLst>
          </p:cNvPr>
          <p:cNvSpPr>
            <a:spLocks xmlns:a="http://schemas.openxmlformats.org/drawingml/2006/main" noGrp="1"/>
          </p:cNvSpPr>
          <p:nvPr/>
        </p:nvSpPr>
        <p:spPr>
          <a:xfrm xmlns:a="http://schemas.openxmlformats.org/drawingml/2006/main">
            <a:off x="6858000" y="3438525"/>
            <a:ext cx="472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00" b="1">
                <a:solidFill>
                  <a:srgbClr val="292722"/>
                </a:solidFill>
                <a:latin typeface="Arial"/>
                <a:ea typeface="Arial"/>
                <a:cs typeface="Arial"/>
              </a:defRPr>
            </a:pPr>
            <a:r>
              <a:rPr sz="1500" b="1">
                <a:solidFill>
                  <a:srgbClr val="292722"/>
                </a:solidFill>
                <a:latin typeface="Arial"/>
                <a:ea typeface="Arial"/>
                <a:cs typeface="Arial"/>
              </a:rPr>
              <a:t>Select  →  Brief  →  Practise  →  Review  →  Retry</a:t>
            </a:r>
          </a:p>
        </p:txBody>
      </p:sp>
      <p:sp>
        <p:nvSpPr>
          <p:cNvPr id="22" name="">
            <a:extLst xmlns:a="http://schemas.openxmlformats.org/drawingml/2006/main">
              <a:ext uri="{FF2B5EF4-FFF2-40B4-BE49-F238E27FC236}">
                <a16:creationId xmlns:a16="http://schemas.microsoft.com/office/drawing/2014/main" id="{A811885A-9A1A-4C13-B22F-8F276E306432}"/>
              </a:ext>
            </a:extLst>
          </p:cNvPr>
          <p:cNvSpPr>
            <a:spLocks xmlns:a="http://schemas.openxmlformats.org/drawingml/2006/main" noGrp="1"/>
          </p:cNvSpPr>
          <p:nvPr/>
        </p:nvSpPr>
        <p:spPr>
          <a:xfrm xmlns:a="http://schemas.openxmlformats.org/drawingml/2006/main">
            <a:off x="6858000" y="3914775"/>
            <a:ext cx="4724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994"/>
          </a:bodyPr>
          <a:lstStyle xmlns:a="http://schemas.openxmlformats.org/drawingml/2006/main"/>
          <a:p xmlns:a="http://schemas.openxmlformats.org/drawingml/2006/main">
            <a:pPr algn="l">
              <a:lnSpc>
                <a:spcPct val="112000"/>
              </a:lnSpc>
              <a:buNone/>
              <a:defRPr sz="1275" b="0">
                <a:solidFill>
                  <a:srgbClr val="67645E"/>
                </a:solidFill>
                <a:latin typeface="Arial"/>
                <a:ea typeface="Arial"/>
                <a:cs typeface="Arial"/>
              </a:defRPr>
            </a:pPr>
            <a:r>
              <a:rPr sz="1275" b="0">
                <a:solidFill>
                  <a:srgbClr val="67645E"/>
                </a:solidFill>
                <a:latin typeface="Arial"/>
                <a:ea typeface="Arial"/>
                <a:cs typeface="Arial"/>
              </a:rPr>
              <a:t>Browser voice/text  →  Next.js server routes  →  Gemini</a:t>
            </a:r>
          </a:p>
          <a:p xmlns:a="http://schemas.openxmlformats.org/drawingml/2006/main">
            <a:pPr algn="l">
              <a:lnSpc>
                <a:spcPct val="112000"/>
              </a:lnSpc>
              <a:buNone/>
              <a:defRPr sz="1275" b="0">
                <a:solidFill>
                  <a:srgbClr val="67645E"/>
                </a:solidFill>
                <a:latin typeface="Arial"/>
                <a:ea typeface="Arial"/>
                <a:cs typeface="Arial"/>
              </a:defRPr>
            </a:pPr>
            <a:r>
              <a:rPr sz="1275" b="0">
                <a:solidFill>
                  <a:srgbClr val="67645E"/>
                </a:solidFill>
                <a:latin typeface="Arial"/>
                <a:ea typeface="Arial"/>
                <a:cs typeface="Arial"/>
              </a:rPr>
              <a:t>Attempts remain in browser session storage; no SQL is needed for the current demo.</a:t>
            </a:r>
          </a:p>
        </p:txBody>
      </p:sp>
      <p:sp>
        <p:nvSpPr>
          <p:cNvPr id="23" name="">
            <a:extLst xmlns:a="http://schemas.openxmlformats.org/drawingml/2006/main">
              <a:ext uri="{FF2B5EF4-FFF2-40B4-BE49-F238E27FC236}">
                <a16:creationId xmlns:a16="http://schemas.microsoft.com/office/drawing/2014/main" id="{60784990-F2D0-4183-B7A3-F5863D7A488A}"/>
              </a:ext>
            </a:extLst>
          </p:cNvPr>
          <p:cNvSpPr>
            <a:spLocks xmlns:a="http://schemas.openxmlformats.org/drawingml/2006/main" noGrp="1"/>
          </p:cNvSpPr>
          <p:nvPr/>
        </p:nvSpPr>
        <p:spPr>
          <a:xfrm xmlns:a="http://schemas.openxmlformats.org/drawingml/2006/main">
            <a:off x="6858000" y="4752975"/>
            <a:ext cx="2247900" cy="1076325"/>
          </a:xfrm>
          <a:prstGeom xmlns:a="http://schemas.openxmlformats.org/drawingml/2006/main" prst="rect">
            <a:avLst/>
          </a:prstGeom>
          <a:solidFill xmlns:a="http://schemas.openxmlformats.org/drawingml/2006/main">
            <a:srgbClr val="EEF2E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59A83EB-B925-478B-98DC-A88572812972}"/>
              </a:ext>
            </a:extLst>
          </p:cNvPr>
          <p:cNvSpPr>
            <a:spLocks xmlns:a="http://schemas.openxmlformats.org/drawingml/2006/main" noGrp="1"/>
          </p:cNvSpPr>
          <p:nvPr/>
        </p:nvSpPr>
        <p:spPr>
          <a:xfrm xmlns:a="http://schemas.openxmlformats.org/drawingml/2006/main">
            <a:off x="7029450" y="49053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a:solidFill>
                  <a:srgbClr val="50664F"/>
                </a:solidFill>
                <a:latin typeface="Arial"/>
                <a:ea typeface="Arial"/>
                <a:cs typeface="Arial"/>
              </a:defRPr>
            </a:pPr>
            <a:r>
              <a:rPr sz="1050" b="1">
                <a:solidFill>
                  <a:srgbClr val="50664F"/>
                </a:solidFill>
                <a:latin typeface="Arial"/>
                <a:ea typeface="Arial"/>
                <a:cs typeface="Arial"/>
              </a:rPr>
              <a:t>SAFE BY DESIGN</a:t>
            </a:r>
          </a:p>
        </p:txBody>
      </p:sp>
      <p:sp>
        <p:nvSpPr>
          <p:cNvPr id="25" name="">
            <a:extLst xmlns:a="http://schemas.openxmlformats.org/drawingml/2006/main">
              <a:ext uri="{FF2B5EF4-FFF2-40B4-BE49-F238E27FC236}">
                <a16:creationId xmlns:a16="http://schemas.microsoft.com/office/drawing/2014/main" id="{7B372BC2-E395-4C21-8393-05DD074D40AF}"/>
              </a:ext>
            </a:extLst>
          </p:cNvPr>
          <p:cNvSpPr>
            <a:spLocks xmlns:a="http://schemas.openxmlformats.org/drawingml/2006/main" noGrp="1"/>
          </p:cNvSpPr>
          <p:nvPr/>
        </p:nvSpPr>
        <p:spPr>
          <a:xfrm xmlns:a="http://schemas.openxmlformats.org/drawingml/2006/main">
            <a:off x="7029450" y="5210175"/>
            <a:ext cx="18954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198"/>
          </a:bodyPr>
          <a:lstStyle xmlns:a="http://schemas.openxmlformats.org/drawingml/2006/main"/>
          <a:p xmlns:a="http://schemas.openxmlformats.org/drawingml/2006/main">
            <a:pPr algn="l">
              <a:lnSpc>
                <a:spcPct val="108000"/>
              </a:lnSpc>
              <a:buNone/>
              <a:defRPr sz="1200" b="1">
                <a:solidFill>
                  <a:srgbClr val="292722"/>
                </a:solidFill>
                <a:latin typeface="Arial"/>
                <a:ea typeface="Arial"/>
                <a:cs typeface="Arial"/>
              </a:defRPr>
            </a:pPr>
            <a:r>
              <a:rPr sz="1200" b="1">
                <a:solidFill>
                  <a:srgbClr val="292722"/>
                </a:solidFill>
                <a:latin typeface="Arial"/>
                <a:ea typeface="Arial"/>
                <a:cs typeface="Arial"/>
              </a:rPr>
              <a:t>Fictional data • server-only key/prompts • input limits • formative-use boundaries</a:t>
            </a:r>
          </a:p>
        </p:txBody>
      </p:sp>
      <p:sp>
        <p:nvSpPr>
          <p:cNvPr id="26" name="">
            <a:extLst xmlns:a="http://schemas.openxmlformats.org/drawingml/2006/main">
              <a:ext uri="{FF2B5EF4-FFF2-40B4-BE49-F238E27FC236}">
                <a16:creationId xmlns:a16="http://schemas.microsoft.com/office/drawing/2014/main" id="{531CE6EC-7A0F-455C-B0F1-A695862CEDCF}"/>
              </a:ext>
            </a:extLst>
          </p:cNvPr>
          <p:cNvSpPr>
            <a:spLocks xmlns:a="http://schemas.openxmlformats.org/drawingml/2006/main" noGrp="1"/>
          </p:cNvSpPr>
          <p:nvPr/>
        </p:nvSpPr>
        <p:spPr>
          <a:xfrm xmlns:a="http://schemas.openxmlformats.org/drawingml/2006/main">
            <a:off x="9277350" y="4752975"/>
            <a:ext cx="2305050" cy="1076325"/>
          </a:xfrm>
          <a:prstGeom xmlns:a="http://schemas.openxmlformats.org/drawingml/2006/main" prst="rect">
            <a:avLst/>
          </a:prstGeom>
          <a:solidFill xmlns:a="http://schemas.openxmlformats.org/drawingml/2006/main">
            <a:srgbClr val="1F2A2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C4E6905-FF74-4A9C-8254-F2A2A3F95C09}"/>
              </a:ext>
            </a:extLst>
          </p:cNvPr>
          <p:cNvSpPr>
            <a:spLocks xmlns:a="http://schemas.openxmlformats.org/drawingml/2006/main" noGrp="1"/>
          </p:cNvSpPr>
          <p:nvPr/>
        </p:nvSpPr>
        <p:spPr>
          <a:xfrm xmlns:a="http://schemas.openxmlformats.org/drawingml/2006/main">
            <a:off x="9448800" y="49053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a:solidFill>
                  <a:srgbClr val="9EB299"/>
                </a:solidFill>
                <a:latin typeface="Arial"/>
                <a:ea typeface="Arial"/>
                <a:cs typeface="Arial"/>
              </a:defRPr>
            </a:pPr>
            <a:r>
              <a:rPr sz="1050" b="1">
                <a:solidFill>
                  <a:srgbClr val="9EB299"/>
                </a:solidFill>
                <a:latin typeface="Arial"/>
                <a:ea typeface="Arial"/>
                <a:cs typeface="Arial"/>
              </a:rPr>
              <a:t>NEXT DECISION</a:t>
            </a:r>
          </a:p>
        </p:txBody>
      </p:sp>
      <p:sp>
        <p:nvSpPr>
          <p:cNvPr id="28" name="">
            <a:extLst xmlns:a="http://schemas.openxmlformats.org/drawingml/2006/main">
              <a:ext uri="{FF2B5EF4-FFF2-40B4-BE49-F238E27FC236}">
                <a16:creationId xmlns:a16="http://schemas.microsoft.com/office/drawing/2014/main" id="{943D2C47-9477-49E0-AE32-3D86311D2A62}"/>
              </a:ext>
            </a:extLst>
          </p:cNvPr>
          <p:cNvSpPr>
            <a:spLocks xmlns:a="http://schemas.openxmlformats.org/drawingml/2006/main" noGrp="1"/>
          </p:cNvSpPr>
          <p:nvPr/>
        </p:nvSpPr>
        <p:spPr>
          <a:xfrm xmlns:a="http://schemas.openxmlformats.org/drawingml/2006/main">
            <a:off x="9448800" y="5210175"/>
            <a:ext cx="19431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925"/>
          </a:bodyPr>
          <a:lstStyle xmlns:a="http://schemas.openxmlformats.org/drawingml/2006/main"/>
          <a:p xmlns:a="http://schemas.openxmlformats.org/drawingml/2006/main">
            <a:pPr algn="l">
              <a:lnSpc>
                <a:spcPct val="105000"/>
              </a:lnSpc>
              <a:buNone/>
              <a:defRPr sz="1350" b="1">
                <a:solidFill>
                  <a:srgbClr val="FFFFFF"/>
                </a:solidFill>
                <a:latin typeface="Arial"/>
                <a:ea typeface="Arial"/>
                <a:cs typeface="Arial"/>
              </a:defRPr>
            </a:pPr>
            <a:r>
              <a:rPr sz="1350" b="1">
                <a:solidFill>
                  <a:srgbClr val="FFFFFF"/>
                </a:solidFill>
                <a:latin typeface="Arial"/>
                <a:ea typeface="Arial"/>
                <a:cs typeface="Arial"/>
              </a:rPr>
              <a:t>Approve a small, faculty-supervised learner pilot.</a:t>
            </a:r>
          </a:p>
        </p:txBody>
      </p:sp>
      <p:sp>
        <p:nvSpPr>
          <p:cNvPr id="29" name="">
            <a:extLst xmlns:a="http://schemas.openxmlformats.org/drawingml/2006/main">
              <a:ext uri="{FF2B5EF4-FFF2-40B4-BE49-F238E27FC236}">
                <a16:creationId xmlns:a16="http://schemas.microsoft.com/office/drawing/2014/main" id="{BC4DA6A3-538A-41AC-81F7-5464A34B8AB8}"/>
              </a:ext>
            </a:extLst>
          </p:cNvPr>
          <p:cNvSpPr>
            <a:spLocks xmlns:a="http://schemas.openxmlformats.org/drawingml/2006/main" noGrp="1"/>
          </p:cNvSpPr>
          <p:nvPr/>
        </p:nvSpPr>
        <p:spPr>
          <a:xfrm xmlns:a="http://schemas.openxmlformats.org/drawingml/2006/main">
            <a:off x="6858000" y="6105525"/>
            <a:ext cx="4724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719"/>
          </a:bodyPr>
          <a:lstStyle xmlns:a="http://schemas.openxmlformats.org/drawingml/2006/main"/>
          <a:p xmlns:a="http://schemas.openxmlformats.org/drawingml/2006/main">
            <a:pPr algn="ctr">
              <a:lnSpc>
                <a:spcPct val="106000"/>
              </a:lnSpc>
              <a:buNone/>
              <a:defRPr sz="1125" b="0">
                <a:solidFill>
                  <a:srgbClr val="969087"/>
                </a:solidFill>
                <a:latin typeface="Arial"/>
                <a:ea typeface="Arial"/>
                <a:cs typeface="Arial"/>
              </a:defRPr>
            </a:pPr>
            <a:r>
              <a:rPr sz="1125" b="0">
                <a:solidFill>
                  <a:srgbClr val="969087"/>
                </a:solidFill>
                <a:latin typeface="Arial"/>
                <a:ea typeface="Arial"/>
                <a:cs typeface="Arial"/>
              </a:rPr>
              <a:t>Pilot focus: scenario realism • psychological safety • usefulness of feedback • quality of the next attempt</a:t>
            </a:r>
          </a:p>
        </p:txBody>
      </p:sp>
      <p:sp>
        <p:nvSpPr>
          <p:cNvPr id="30" name="">
            <a:extLst xmlns:a="http://schemas.openxmlformats.org/drawingml/2006/main">
              <a:ext uri="{FF2B5EF4-FFF2-40B4-BE49-F238E27FC236}">
                <a16:creationId xmlns:a16="http://schemas.microsoft.com/office/drawing/2014/main" id="{7CBC3CB2-11EF-4C67-8374-4D134AEEEE30}"/>
              </a:ext>
            </a:extLst>
          </p:cNvPr>
          <p:cNvSpPr>
            <a:spLocks xmlns:a="http://schemas.openxmlformats.org/drawingml/2006/main" noGrp="1"/>
          </p:cNvSpPr>
          <p:nvPr/>
        </p:nvSpPr>
        <p:spPr>
          <a:xfrm xmlns:a="http://schemas.openxmlformats.org/drawingml/2006/main">
            <a:off x="609600" y="6543675"/>
            <a:ext cx="5848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975" b="0">
                <a:solidFill>
                  <a:srgbClr val="969087"/>
                </a:solidFill>
                <a:latin typeface="Arial"/>
                <a:ea typeface="Arial"/>
                <a:cs typeface="Arial"/>
              </a:defRPr>
            </a:pPr>
            <a:r>
              <a:rPr sz="975" b="0">
                <a:solidFill>
                  <a:srgbClr val="969087"/>
                </a:solidFill>
                <a:latin typeface="Arial"/>
                <a:ea typeface="Arial"/>
                <a:cs typeface="Arial"/>
              </a:rPr>
              <a:t>Illustrative prototype output—not validated learning-impact evidence.</a:t>
            </a:r>
          </a:p>
        </p:txBody>
      </p:sp>
    </p:spTree>
    <p:extLst>
      <p:ext uri="{BB962C8B-B14F-4D97-AF65-F5344CB8AC3E}">
        <p14:creationId xmlns:p14="http://schemas.microsoft.com/office/powerpoint/2010/main" val="14384388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2026-08-05T17:08:22.6230000Z</dcterms:created>
  <dcterms:modified xsi:type="dcterms:W3CDTF">2026-08-05T17:08:22.6230000Z</dcterms:modified>
</coreProperties>
</file>