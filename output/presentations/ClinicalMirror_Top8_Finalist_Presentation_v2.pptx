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5710db06934b26" /><Relationship Type="http://schemas.openxmlformats.org/officeDocument/2006/relationships/extended-properties" Target="/docProps/app.xml" Id="Re3bc813e25924538" /><Relationship Type="http://schemas.openxmlformats.org/officeDocument/2006/relationships/officeDocument" Target="/ppt/presentation.xml" Id="R1ea7040a55b14d0b" /></Relationships>
</file>

<file path=ppt/presentation.xml><?xml version="1.0" encoding="utf-8"?>
<p:presentation xmlns:p="http://schemas.openxmlformats.org/presentationml/2006/main">
  <p:sldMasterIdLst>
    <p:sldMasterId xmlns:r="http://schemas.openxmlformats.org/officeDocument/2006/relationships" id="2147483648" r:id="R7645fb0514254b4b"/>
  </p:sldMasterIdLst>
  <p:notesMasterIdLst>
    <p:notesMasterId xmlns:r="http://schemas.openxmlformats.org/officeDocument/2006/relationships" r:id="R98ba928fe453490d"/>
  </p:notesMasterIdLst>
  <p:sldIdLst>
    <p:sldId xmlns:r="http://schemas.openxmlformats.org/officeDocument/2006/relationships" id="256" r:id="R87f972c0f5224d80"/>
    <p:sldId xmlns:r="http://schemas.openxmlformats.org/officeDocument/2006/relationships" id="257" r:id="Rac14d019c253463f"/>
    <p:sldId xmlns:r="http://schemas.openxmlformats.org/officeDocument/2006/relationships" id="258" r:id="Rfddd6db6e45d45e3"/>
    <p:sldId xmlns:r="http://schemas.openxmlformats.org/officeDocument/2006/relationships" id="259" r:id="R88633c0da33241c3"/>
    <p:sldId xmlns:r="http://schemas.openxmlformats.org/officeDocument/2006/relationships" id="260" r:id="R3606fb388128457d"/>
    <p:sldId xmlns:r="http://schemas.openxmlformats.org/officeDocument/2006/relationships" id="261" r:id="Rb91fd1d895bf45bd"/>
    <p:sldId xmlns:r="http://schemas.openxmlformats.org/officeDocument/2006/relationships" id="262" r:id="R7063a83294d04fb5"/>
    <p:sldId xmlns:r="http://schemas.openxmlformats.org/officeDocument/2006/relationships" id="263" r:id="R9d337d82d9cb47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2de1e2c95a4c63" /><Relationship Type="http://schemas.openxmlformats.org/officeDocument/2006/relationships/slideMaster" Target="/ppt/slideMasters/slideMaster1.xml" Id="R7645fb0514254b4b" /><Relationship Type="http://schemas.openxmlformats.org/officeDocument/2006/relationships/notesMaster" Target="/ppt/notesMasters/notesMaster1.xml" Id="R98ba928fe453490d" /><Relationship Type="http://schemas.openxmlformats.org/officeDocument/2006/relationships/presProps" Target="/ppt/presProps.xml" Id="R75b2feec9bbf4331" /><Relationship Type="http://schemas.openxmlformats.org/officeDocument/2006/relationships/tableStyles" Target="/ppt/tableStyles.xml" Id="Ref9d7c5a2b5a412d" /><Relationship Type="http://schemas.openxmlformats.org/officeDocument/2006/relationships/slide" Target="/ppt/slides/slide1.xml" Id="R87f972c0f5224d80" /><Relationship Type="http://schemas.openxmlformats.org/officeDocument/2006/relationships/slide" Target="/ppt/slides/slide2.xml" Id="Rac14d019c253463f" /><Relationship Type="http://schemas.openxmlformats.org/officeDocument/2006/relationships/slide" Target="/ppt/slides/slide3.xml" Id="Rfddd6db6e45d45e3" /><Relationship Type="http://schemas.openxmlformats.org/officeDocument/2006/relationships/slide" Target="/ppt/slides/slide4.xml" Id="R88633c0da33241c3" /><Relationship Type="http://schemas.openxmlformats.org/officeDocument/2006/relationships/slide" Target="/ppt/slides/slide5.xml" Id="R3606fb388128457d" /><Relationship Type="http://schemas.openxmlformats.org/officeDocument/2006/relationships/slide" Target="/ppt/slides/slide6.xml" Id="Rb91fd1d895bf45bd" /><Relationship Type="http://schemas.openxmlformats.org/officeDocument/2006/relationships/slide" Target="/ppt/slides/slide7.xml" Id="R7063a83294d04fb5" /><Relationship Type="http://schemas.openxmlformats.org/officeDocument/2006/relationships/slide" Target="/ppt/slides/slide8.xml" Id="R9d337d82d9cb47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cb667e6d3d4b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d54b8d362f46e3" /><Relationship Type="http://schemas.openxmlformats.org/officeDocument/2006/relationships/notesMaster" Target="/ppt/notesMasters/notesMaster1.xml" Id="R0d13d5d02a2e4f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d9552532fb4e65" /><Relationship Type="http://schemas.openxmlformats.org/officeDocument/2006/relationships/notesMaster" Target="/ppt/notesMasters/notesMaster1.xml" Id="R458176c9c49449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e6701f11fd4fdc" /><Relationship Type="http://schemas.openxmlformats.org/officeDocument/2006/relationships/notesMaster" Target="/ppt/notesMasters/notesMaster1.xml" Id="Rdb2fd3fb5f3d48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c532e280cd4106" /><Relationship Type="http://schemas.openxmlformats.org/officeDocument/2006/relationships/notesMaster" Target="/ppt/notesMasters/notesMaster1.xml" Id="R29fbe28ac0fb42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f09206eac943c1" /><Relationship Type="http://schemas.openxmlformats.org/officeDocument/2006/relationships/notesMaster" Target="/ppt/notesMasters/notesMaster1.xml" Id="Rf78011a67d314c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6788e475a248b3" /><Relationship Type="http://schemas.openxmlformats.org/officeDocument/2006/relationships/notesMaster" Target="/ppt/notesMasters/notesMaster1.xml" Id="R631f433285ce45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225c513c744abb" /><Relationship Type="http://schemas.openxmlformats.org/officeDocument/2006/relationships/notesMaster" Target="/ppt/notesMasters/notesMaster1.xml" Id="R81653acfc1bf46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f699503df64119" /><Relationship Type="http://schemas.openxmlformats.org/officeDocument/2006/relationships/notesMaster" Target="/ppt/notesMasters/notesMaster1.xml" Id="R92b0e915aa2145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stakes, not the technology. ClinicalMirror gives healthcare students a place to rehearse difficult conversations before those conversations carry real consequences. It is designed to complement high-fidelity simulation, not replace educators or simulated patients.</a:t>
            </a:r>
          </a:p>
          <a:p xmlns:a="http://schemas.openxmlformats.org/drawingml/2006/main">
            <a:r>
              <a:t/>
            </a:r>
          </a:p>
          <a:p xmlns:a="http://schemas.openxmlformats.org/drawingml/2006/main">
            <a:r>
              <a:t>[Sources]</a:t>
            </a:r>
          </a:p>
          <a:p xmlns:a="http://schemas.openxmlformats.org/drawingml/2006/main">
            <a:r>
              <a:t>- AI Challenge 2026_Simplified Problem Description.pdf</a:t>
            </a:r>
          </a:p>
          <a:p xmlns:a="http://schemas.openxmlformats.org/drawingml/2006/main">
            <a:r>
              <a:t>- Current ClinicalMirror repository at c0932fb, reviewed 13 Aug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that students do not value communication. The problem is limited repetition. Actor-based simulation is realistic, but expensive and difficult to make available on demand. ClinicalMirror adds a lower-friction practice layer so students can rehearse, receive feedback and try again between high-fidelity sessions.</a:t>
            </a:r>
          </a:p>
          <a:p xmlns:a="http://schemas.openxmlformats.org/drawingml/2006/main">
            <a:r>
              <a:t/>
            </a:r>
          </a:p>
          <a:p xmlns:a="http://schemas.openxmlformats.org/drawingml/2006/main">
            <a:r>
              <a:t>[Sources]</a:t>
            </a:r>
          </a:p>
          <a:p xmlns:a="http://schemas.openxmlformats.org/drawingml/2006/main">
            <a:r>
              <a:t>- AI Challenge 2026_Simplified Problem Description.pdf</a:t>
            </a:r>
          </a:p>
          <a:p xmlns:a="http://schemas.openxmlformats.org/drawingml/2006/main">
            <a:r>
              <a:t>- Live ClinicalMirror homepage screenshot captured 13 Aug 2026</a:t>
            </a:r>
          </a:p>
          <a:p xmlns:a="http://schemas.openxmlformats.org/drawingml/2006/main">
            <a:r>
              <a:t>- src/app/page.tsx</a:t>
            </a:r>
          </a:p>
          <a:p xmlns:a="http://schemas.openxmlformats.org/drawingml/2006/main">
            <a:r>
              <a:t>- src/lib/scenario-catalog.ts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judges through the full journey. The learner chooses a scenario, reviews the mission and fictional-data boundary, selects an avatar mode, completes the consultation by voice or text, receives feedback and can retry. If the live demo is working, use this slide only as framing and move directly into the product.</a:t>
            </a:r>
          </a:p>
          <a:p xmlns:a="http://schemas.openxmlformats.org/drawingml/2006/main">
            <a:r>
              <a:t/>
            </a:r>
          </a:p>
          <a:p xmlns:a="http://schemas.openxmlformats.org/drawingml/2006/main">
            <a:r>
              <a:t>[Sources]</a:t>
            </a:r>
          </a:p>
          <a:p xmlns:a="http://schemas.openxmlformats.org/drawingml/2006/main">
            <a:r>
              <a:t>- Live ClinicalMirror screenshots captured 13 Aug 2026</a:t>
            </a:r>
          </a:p>
          <a:p xmlns:a="http://schemas.openxmlformats.org/drawingml/2006/main">
            <a:r>
              <a:t>- src/app/session/[scenarioId]/page.tsx</a:t>
            </a:r>
          </a:p>
          <a:p xmlns:a="http://schemas.openxmlformats.org/drawingml/2006/main">
            <a:r>
              <a:t>- src/app/feedback/page.tsx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interaction is generated from the learner's words and prior turns rather than played from a fixed script. In the core path, Gemini returns the patient's spoken reply plus an emotion and intensity signal. The learner can use the instant stylised avatar or a Tavus live video patient. ElevenLabs can add an adaptive patient voice, while browser speech remains the fallback. We are not presenting Wav2Lip as a finalist capability; legacy code is still present in the current commit pending the team's planned removal. The emotion signal is an interface aid, not independent evidence of learning.</a:t>
            </a:r>
          </a:p>
          <a:p xmlns:a="http://schemas.openxmlformats.org/drawingml/2006/main">
            <a:r>
              <a:t/>
            </a:r>
          </a:p>
          <a:p xmlns:a="http://schemas.openxmlformats.org/drawingml/2006/main">
            <a:r>
              <a:t>[Sources]</a:t>
            </a:r>
          </a:p>
          <a:p xmlns:a="http://schemas.openxmlformats.org/drawingml/2006/main">
            <a:r>
              <a:t>- Live stylised-avatar session screenshot captured 13 Aug 2026</a:t>
            </a:r>
          </a:p>
          <a:p xmlns:a="http://schemas.openxmlformats.org/drawingml/2006/main">
            <a:r>
              <a:t>- src/app/api/chat/route.ts</a:t>
            </a:r>
          </a:p>
          <a:p xmlns:a="http://schemas.openxmlformats.org/drawingml/2006/main">
            <a:r>
              <a:t>- src/components/Avatar.tsx</a:t>
            </a:r>
          </a:p>
          <a:p xmlns:a="http://schemas.openxmlformats.org/drawingml/2006/main">
            <a:r>
              <a:t>- src/components/TavusAvatar.tsx</a:t>
            </a:r>
          </a:p>
          <a:p xmlns:a="http://schemas.openxmlformats.org/drawingml/2006/main">
            <a:r>
              <a:t>- src/app/api/tts/route.ts</a:t>
            </a:r>
          </a:p>
          <a:p xmlns:a="http://schemas.openxmlformats.org/drawingml/2006/main">
            <a:r>
              <a:t>- src/lib/tts.ts</a:t>
            </a:r>
          </a:p>
          <a:p xmlns:a="http://schemas.openxmlformats.org/drawingml/2006/main">
            <a:r>
              <a:t>- .env.example and src/app/api/patient-reply-video/route.ts for the legacy-code caveat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system from left to right. The learner uses one browser interface. Next.js server routes validate requests, protect API keys and hidden prompts, and call the relevant service. Gemini powers the core text role-play, emotion classification and feedback. Tavus owns the live video conversation; the browser joins its Daily WebRTC room. ElevenLabs is an optional voice enhancement with browser speech fallback. Session history stays in the browser. The diagram intentionally excludes Wav2Lip because the team does not plan to use it in the finalist demo and intends to remove the remaining legacy path.</a:t>
            </a:r>
          </a:p>
          <a:p xmlns:a="http://schemas.openxmlformats.org/drawingml/2006/main">
            <a:r>
              <a:t/>
            </a:r>
          </a:p>
          <a:p xmlns:a="http://schemas.openxmlformats.org/drawingml/2006/main">
            <a:r>
              <a:t>[Sources]</a:t>
            </a:r>
          </a:p>
          <a:p xmlns:a="http://schemas.openxmlformats.org/drawingml/2006/main">
            <a:r>
              <a:t>- package.json</a:t>
            </a:r>
          </a:p>
          <a:p xmlns:a="http://schemas.openxmlformats.org/drawingml/2006/main">
            <a:r>
              <a:t>- src/app/session/[scenarioId]/page.tsx</a:t>
            </a:r>
          </a:p>
          <a:p xmlns:a="http://schemas.openxmlformats.org/drawingml/2006/main">
            <a:r>
              <a:t>- src/app/api/chat/route.ts</a:t>
            </a:r>
          </a:p>
          <a:p xmlns:a="http://schemas.openxmlformats.org/drawingml/2006/main">
            <a:r>
              <a:t>- src/app/api/emotion/route.ts</a:t>
            </a:r>
          </a:p>
          <a:p xmlns:a="http://schemas.openxmlformats.org/drawingml/2006/main">
            <a:r>
              <a:t>- src/app/api/feedback/route.ts</a:t>
            </a:r>
          </a:p>
          <a:p xmlns:a="http://schemas.openxmlformats.org/drawingml/2006/main">
            <a:r>
              <a:t>- src/app/api/tts/route.ts</a:t>
            </a:r>
          </a:p>
          <a:p xmlns:a="http://schemas.openxmlformats.org/drawingml/2006/main">
            <a:r>
              <a:t>- src/lib/tavus.server.ts</a:t>
            </a:r>
          </a:p>
          <a:p xmlns:a="http://schemas.openxmlformats.org/drawingml/2006/main">
            <a:r>
              <a:t>- src/components/TavusAvatar.tsx</a:t>
            </a:r>
          </a:p>
          <a:p xmlns:a="http://schemas.openxmlformats.org/drawingml/2006/main">
            <a:r>
              <a:t>- src/lib/tts.ts</a:t>
            </a:r>
          </a:p>
          <a:p xmlns:a="http://schemas.openxmlformats.org/drawingml/2006/main">
            <a:r>
              <a:t>- src/app/feedback/page.tsx</a:t>
            </a:r>
          </a:p>
          <a:p xmlns:a="http://schemas.openxmlformats.org/drawingml/2006/main">
            <a:r>
              <a:t>- .env.example and src/app/api/patient-reply-video/route.ts for the legacy-code caveat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 is designed for reflection, not grading. It scores empathy, clarity and de-escalation, but the important part is traceability: the model must cite the learner's exact turn, explain what worked, identify a better move and create a retry plan. The interface also shows confidence and limitations. Current safeguards include fictional-data acknowledgement, server-side keys and prompts, bounded inputs, disabled Tavus recording and clear formative-use disclaimers. The sample shown is illustrative output, not evidence of validated learning impact.</a:t>
            </a:r>
          </a:p>
          <a:p xmlns:a="http://schemas.openxmlformats.org/drawingml/2006/main">
            <a:r>
              <a:t/>
            </a:r>
          </a:p>
          <a:p xmlns:a="http://schemas.openxmlformats.org/drawingml/2006/main">
            <a:r>
              <a:t>[Sources]</a:t>
            </a:r>
          </a:p>
          <a:p xmlns:a="http://schemas.openxmlformats.org/drawingml/2006/main">
            <a:r>
              <a:t>- Live ClinicalMirror feedback screenshot captured 13 Aug 2026</a:t>
            </a:r>
          </a:p>
          <a:p xmlns:a="http://schemas.openxmlformats.org/drawingml/2006/main">
            <a:r>
              <a:t>- src/app/api/feedback/route.ts</a:t>
            </a:r>
          </a:p>
          <a:p xmlns:a="http://schemas.openxmlformats.org/drawingml/2006/main">
            <a:r>
              <a:t>- src/lib/ai-api.server.ts</a:t>
            </a:r>
          </a:p>
          <a:p xmlns:a="http://schemas.openxmlformats.org/drawingml/2006/main">
            <a:r>
              <a:t>- src/app/feedback/page.tsx</a:t>
            </a:r>
          </a:p>
          <a:p xmlns:a="http://schemas.openxmlformats.org/drawingml/2006/main">
            <a:r>
              <a:t>- src/lib/tavus.server.ts</a:t>
            </a:r>
          </a:p>
          <a:p xmlns:a="http://schemas.openxmlformats.org/drawingml/2006/main">
            <a:r>
              <a:t>- src/app/session/[scenarioId]/page.tsx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measured next step. We have a working prototype and enough functionality to test the educational hypothesis. We are not asking for a full institutional rollout. We are asking for a small faculty-supervised pilot that reviews scenario realism and safeguarding, observes learner usability and psychological safety, and tests whether the learner can use the feedback in a stronger retry. Data retention, accounts and wider governance should follow evidence, not precede it.</a:t>
            </a:r>
          </a:p>
          <a:p xmlns:a="http://schemas.openxmlformats.org/drawingml/2006/main">
            <a:r>
              <a:t/>
            </a:r>
          </a:p>
          <a:p xmlns:a="http://schemas.openxmlformats.org/drawingml/2006/main">
            <a:r>
              <a:t>[Sources]</a:t>
            </a:r>
          </a:p>
          <a:p xmlns:a="http://schemas.openxmlformats.org/drawingml/2006/main">
            <a:r>
              <a:t>- Current ClinicalMirror repository at c0932fb</a:t>
            </a:r>
          </a:p>
          <a:p xmlns:a="http://schemas.openxmlformats.org/drawingml/2006/main">
            <a:r>
              <a:t>- README.md prototype boundaries</a:t>
            </a:r>
          </a:p>
          <a:p xmlns:a="http://schemas.openxmlformats.org/drawingml/2006/main">
            <a:r>
              <a:t>- AI Challenge 2026_Simplified Problem Description.pdf</a:t>
            </a:r>
          </a:p>
          <a:p xmlns:a="http://schemas.openxmlformats.org/drawingml/2006/main">
            <a:r>
              <a:t>- hackaton 1.pdf judging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only for technical Q&amp;A. Gemini is the only external AI service required for the core text and stylised-avatar experience. Tavus enables the live video patient. Daily is the client library used to join the Tavus WebRTC room and does not require a separate key in this repository. ElevenLabs is optional and falls back to browser speech. The application runs on Next.js and React. There is currently no SQL database or authentication layer. Legacy Wav2Lip code is still present in the current commit, but it is excluded from the finalist architecture and scheduled for removal.</a:t>
            </a:r>
          </a:p>
          <a:p xmlns:a="http://schemas.openxmlformats.org/drawingml/2006/main">
            <a:r>
              <a:t/>
            </a:r>
          </a:p>
          <a:p xmlns:a="http://schemas.openxmlformats.org/drawingml/2006/main">
            <a:r>
              <a:t>[Sources]</a:t>
            </a:r>
          </a:p>
          <a:p xmlns:a="http://schemas.openxmlformats.org/drawingml/2006/main">
            <a:r>
              <a:t>- .env.example</a:t>
            </a:r>
          </a:p>
          <a:p xmlns:a="http://schemas.openxmlformats.org/drawingml/2006/main">
            <a:r>
              <a:t>- package.json</a:t>
            </a:r>
          </a:p>
          <a:p xmlns:a="http://schemas.openxmlformats.org/drawingml/2006/main">
            <a:r>
              <a:t>- src/lib/tavus.server.ts</a:t>
            </a:r>
          </a:p>
          <a:p xmlns:a="http://schemas.openxmlformats.org/drawingml/2006/main">
            <a:r>
              <a:t>- src/components/TavusAvatar.tsx</a:t>
            </a:r>
          </a:p>
          <a:p xmlns:a="http://schemas.openxmlformats.org/drawingml/2006/main">
            <a:r>
              <a:t>- src/app/api/tts/route.ts</a:t>
            </a:r>
          </a:p>
          <a:p xmlns:a="http://schemas.openxmlformats.org/drawingml/2006/main">
            <a:r>
              <a:t>- src/lib/tts.ts</a:t>
            </a:r>
          </a:p>
          <a:p xmlns:a="http://schemas.openxmlformats.org/drawingml/2006/main">
            <a:r>
              <a:t>- src/app/feedback/page.tsx</a:t>
            </a:r>
          </a:p>
          <a:p xmlns:a="http://schemas.openxmlformats.org/drawingml/2006/main">
            <a:r>
              <a:t>- src/app/api/patient-reply-video/route.ts for the legacy-code caveat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fc5ed7dcaa4e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3b672a21124fc5" /><Relationship Type="http://schemas.openxmlformats.org/officeDocument/2006/relationships/slideLayout" Target="/ppt/slideLayouts/slideLayout1.xml" Id="R50016e07eac744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016e07eac744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738fd634d74895" /><Relationship Type="http://schemas.openxmlformats.org/officeDocument/2006/relationships/notesSlide" Target="/ppt/notesSlides/notesSlide1.xml" Id="Re185802e6b8545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d276f9b13064898" /><Relationship Type="http://schemas.openxmlformats.org/officeDocument/2006/relationships/image" Target="/ppt/media/image.jpeg" Id="R9ee9c1749b8346bd" /><Relationship Type="http://schemas.openxmlformats.org/officeDocument/2006/relationships/notesSlide" Target="/ppt/notesSlides/notesSlide2.xml" Id="R51ae49b16b9940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87ed4ea26ce4d33" /><Relationship Type="http://schemas.openxmlformats.org/officeDocument/2006/relationships/image" Target="/ppt/media/image2.jpeg" Id="Rd8c42b37d7804861" /><Relationship Type="http://schemas.openxmlformats.org/officeDocument/2006/relationships/image" Target="/ppt/media/image3.jpeg" Id="R1e3fe006dd8244d3" /><Relationship Type="http://schemas.openxmlformats.org/officeDocument/2006/relationships/image" Target="/ppt/media/image4.jpeg" Id="Rf71bd1e8e5414432" /><Relationship Type="http://schemas.openxmlformats.org/officeDocument/2006/relationships/notesSlide" Target="/ppt/notesSlides/notesSlide3.xml" Id="Re5772ecc58aa49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d548e640014912" /><Relationship Type="http://schemas.openxmlformats.org/officeDocument/2006/relationships/image" Target="/ppt/media/image5.jpeg" Id="R0a261ccb6aff4b1f" /><Relationship Type="http://schemas.openxmlformats.org/officeDocument/2006/relationships/notesSlide" Target="/ppt/notesSlides/notesSlide4.xml" Id="R1b0dfbfc335741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e2a32716bd4221" /><Relationship Type="http://schemas.openxmlformats.org/officeDocument/2006/relationships/notesSlide" Target="/ppt/notesSlides/notesSlide5.xml" Id="R2f4147c52d544f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191df5a8ae4754" /><Relationship Type="http://schemas.openxmlformats.org/officeDocument/2006/relationships/image" Target="/ppt/media/image6.jpeg" Id="Rd29d2b48fa854ff0" /><Relationship Type="http://schemas.openxmlformats.org/officeDocument/2006/relationships/notesSlide" Target="/ppt/notesSlides/notesSlide6.xml" Id="R532d11c74ca141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bca2308b8c450c" /><Relationship Type="http://schemas.openxmlformats.org/officeDocument/2006/relationships/notesSlide" Target="/ppt/notesSlides/notesSlide7.xml" Id="R8bf7bc50dd0045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c17c56efba47a4" /><Relationship Type="http://schemas.openxmlformats.org/officeDocument/2006/relationships/notesSlide" Target="/ppt/notesSlides/notesSlide8.xml" Id="Rec2d10c91a2248b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3D8C89-5A40-4F8A-8113-BF4073BA820A}"/>
              </a:ext>
            </a:extLst>
          </p:cNvPr>
          <p:cNvSpPr>
            <a:spLocks xmlns:a="http://schemas.openxmlformats.org/drawingml/2006/main" noGrp="1"/>
          </p:cNvSpPr>
          <p:nvPr/>
        </p:nvSpPr>
        <p:spPr>
          <a:xfrm xmlns:a="http://schemas.openxmlformats.org/drawingml/2006/main">
            <a:off x="457200" y="3619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26650"/>
                </a:solidFill>
                <a:latin typeface="Arial"/>
                <a:ea typeface="Arial"/>
                <a:cs typeface="Arial"/>
              </a:defRPr>
            </a:pPr>
            <a:r>
              <a:rPr sz="1050" b="1">
                <a:solidFill>
                  <a:srgbClr val="526650"/>
                </a:solidFill>
                <a:latin typeface="Arial"/>
                <a:ea typeface="Arial"/>
                <a:cs typeface="Arial"/>
              </a:rPr>
              <a:t>AI CHALLENGE 2026  /  TOP 8 FINALIST  /  TEAM 14</a:t>
            </a:r>
          </a:p>
        </p:txBody>
      </p:sp>
      <p:sp>
        <p:nvSpPr>
          <p:cNvPr id="2" name="">
            <a:extLst xmlns:a="http://schemas.openxmlformats.org/drawingml/2006/main">
              <a:ext uri="{FF2B5EF4-FFF2-40B4-BE49-F238E27FC236}">
                <a16:creationId xmlns:a16="http://schemas.microsoft.com/office/drawing/2014/main" id="{4C8FFE7C-7563-4420-A9BF-0389852DB265}"/>
              </a:ext>
            </a:extLst>
          </p:cNvPr>
          <p:cNvSpPr>
            <a:spLocks xmlns:a="http://schemas.openxmlformats.org/drawingml/2006/main" noGrp="1"/>
          </p:cNvSpPr>
          <p:nvPr/>
        </p:nvSpPr>
        <p:spPr>
          <a:xfrm xmlns:a="http://schemas.openxmlformats.org/drawingml/2006/main">
            <a:off x="457200" y="7429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FB2F474-9A8C-45D8-BCE1-AD001ABC42FB}"/>
              </a:ext>
            </a:extLst>
          </p:cNvPr>
          <p:cNvSpPr>
            <a:spLocks xmlns:a="http://schemas.openxmlformats.org/drawingml/2006/main" noGrp="1"/>
          </p:cNvSpPr>
          <p:nvPr/>
        </p:nvSpPr>
        <p:spPr>
          <a:xfrm xmlns:a="http://schemas.openxmlformats.org/drawingml/2006/main">
            <a:off x="457200" y="1638300"/>
            <a:ext cx="8191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5850" b="1">
                <a:solidFill>
                  <a:srgbClr val="151515"/>
                </a:solidFill>
                <a:latin typeface="Arial"/>
                <a:ea typeface="Arial"/>
                <a:cs typeface="Arial"/>
              </a:defRPr>
            </a:pPr>
            <a:r>
              <a:rPr sz="5850" b="1">
                <a:solidFill>
                  <a:srgbClr val="151515"/>
                </a:solidFill>
                <a:latin typeface="Arial"/>
                <a:ea typeface="Arial"/>
                <a:cs typeface="Arial"/>
              </a:rPr>
              <a:t>ClinicalMirror</a:t>
            </a:r>
          </a:p>
        </p:txBody>
      </p:sp>
      <p:sp>
        <p:nvSpPr>
          <p:cNvPr id="4" name="">
            <a:extLst xmlns:a="http://schemas.openxmlformats.org/drawingml/2006/main">
              <a:ext uri="{FF2B5EF4-FFF2-40B4-BE49-F238E27FC236}">
                <a16:creationId xmlns:a16="http://schemas.microsoft.com/office/drawing/2014/main" id="{F641D366-E5DF-4CD1-B42D-1F54F68CC1C7}"/>
              </a:ext>
            </a:extLst>
          </p:cNvPr>
          <p:cNvSpPr>
            <a:spLocks xmlns:a="http://schemas.openxmlformats.org/drawingml/2006/main" noGrp="1"/>
          </p:cNvSpPr>
          <p:nvPr/>
        </p:nvSpPr>
        <p:spPr>
          <a:xfrm xmlns:a="http://schemas.openxmlformats.org/drawingml/2006/main">
            <a:off x="457200" y="2857500"/>
            <a:ext cx="7715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750" b="1">
                <a:solidFill>
                  <a:srgbClr val="151515"/>
                </a:solidFill>
                <a:latin typeface="Arial"/>
                <a:ea typeface="Arial"/>
                <a:cs typeface="Arial"/>
              </a:defRPr>
            </a:pPr>
            <a:r>
              <a:rPr sz="3750" b="1">
                <a:solidFill>
                  <a:srgbClr val="151515"/>
                </a:solidFill>
                <a:latin typeface="Arial"/>
                <a:ea typeface="Arial"/>
                <a:cs typeface="Arial"/>
              </a:rPr>
              <a:t>Practice difficult conversations</a:t>
            </a:r>
          </a:p>
          <a:p xmlns:a="http://schemas.openxmlformats.org/drawingml/2006/main">
            <a:pPr algn="l">
              <a:lnSpc>
                <a:spcPct val="95000"/>
              </a:lnSpc>
              <a:buNone/>
              <a:defRPr sz="3750" b="1">
                <a:solidFill>
                  <a:srgbClr val="151515"/>
                </a:solidFill>
                <a:latin typeface="Arial"/>
                <a:ea typeface="Arial"/>
                <a:cs typeface="Arial"/>
              </a:defRPr>
            </a:pPr>
            <a:r>
              <a:rPr sz="3750" b="1">
                <a:solidFill>
                  <a:srgbClr val="151515"/>
                </a:solidFill>
                <a:latin typeface="Arial"/>
                <a:ea typeface="Arial"/>
                <a:cs typeface="Arial"/>
              </a:rPr>
              <a:t>before they count.</a:t>
            </a:r>
          </a:p>
        </p:txBody>
      </p:sp>
      <p:sp>
        <p:nvSpPr>
          <p:cNvPr id="5" name="">
            <a:extLst xmlns:a="http://schemas.openxmlformats.org/drawingml/2006/main">
              <a:ext uri="{FF2B5EF4-FFF2-40B4-BE49-F238E27FC236}">
                <a16:creationId xmlns:a16="http://schemas.microsoft.com/office/drawing/2014/main" id="{F3E6B8FC-2026-4582-B8F0-4DFFA6D6E6F3}"/>
              </a:ext>
            </a:extLst>
          </p:cNvPr>
          <p:cNvSpPr>
            <a:spLocks xmlns:a="http://schemas.openxmlformats.org/drawingml/2006/main" noGrp="1"/>
          </p:cNvSpPr>
          <p:nvPr/>
        </p:nvSpPr>
        <p:spPr>
          <a:xfrm xmlns:a="http://schemas.openxmlformats.org/drawingml/2006/main">
            <a:off x="495300" y="5010150"/>
            <a:ext cx="685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5F625F"/>
                </a:solidFill>
                <a:latin typeface="Arial"/>
                <a:ea typeface="Arial"/>
                <a:cs typeface="Arial"/>
              </a:defRPr>
            </a:pPr>
            <a:r>
              <a:rPr sz="1875" b="0">
                <a:solidFill>
                  <a:srgbClr val="5F625F"/>
                </a:solidFill>
                <a:latin typeface="Arial"/>
                <a:ea typeface="Arial"/>
                <a:cs typeface="Arial"/>
              </a:rPr>
              <a:t>Multi-avatar AI simulation for healthcare communication training</a:t>
            </a:r>
          </a:p>
        </p:txBody>
      </p:sp>
      <p:sp>
        <p:nvSpPr>
          <p:cNvPr id="6" name="">
            <a:extLst xmlns:a="http://schemas.openxmlformats.org/drawingml/2006/main">
              <a:ext uri="{FF2B5EF4-FFF2-40B4-BE49-F238E27FC236}">
                <a16:creationId xmlns:a16="http://schemas.microsoft.com/office/drawing/2014/main" id="{BA5590E9-3995-4DAC-B4AB-0833D902ED43}"/>
              </a:ext>
            </a:extLst>
          </p:cNvPr>
          <p:cNvSpPr>
            <a:spLocks xmlns:a="http://schemas.openxmlformats.org/drawingml/2006/main" noGrp="1"/>
          </p:cNvSpPr>
          <p:nvPr/>
        </p:nvSpPr>
        <p:spPr>
          <a:xfrm xmlns:a="http://schemas.openxmlformats.org/drawingml/2006/main">
            <a:off x="9906000" y="1066800"/>
            <a:ext cx="1828800" cy="4838700"/>
          </a:xfrm>
          <a:prstGeom xmlns:a="http://schemas.openxmlformats.org/drawingml/2006/main" prst="rect">
            <a:avLst/>
          </a:prstGeom>
          <a:solidFill xmlns:a="http://schemas.openxmlformats.org/drawingml/2006/main">
            <a:srgbClr val="EEF2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B753700-09C5-46BD-860B-067D07F1E98E}"/>
              </a:ext>
            </a:extLst>
          </p:cNvPr>
          <p:cNvSpPr>
            <a:spLocks xmlns:a="http://schemas.openxmlformats.org/drawingml/2006/main" noGrp="1"/>
          </p:cNvSpPr>
          <p:nvPr/>
        </p:nvSpPr>
        <p:spPr>
          <a:xfrm xmlns:a="http://schemas.openxmlformats.org/drawingml/2006/main">
            <a:off x="9906000" y="2524125"/>
            <a:ext cx="18288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6900" b="1">
                <a:solidFill>
                  <a:srgbClr val="9EB299"/>
                </a:solidFill>
                <a:latin typeface="Arial"/>
                <a:ea typeface="Arial"/>
                <a:cs typeface="Arial"/>
              </a:defRPr>
            </a:pPr>
            <a:r>
              <a:rPr sz="6900" b="1">
                <a:solidFill>
                  <a:srgbClr val="9EB299"/>
                </a:solidFill>
                <a:latin typeface="Arial"/>
                <a:ea typeface="Arial"/>
                <a:cs typeface="Arial"/>
              </a:rPr>
              <a:t>CM</a:t>
            </a:r>
          </a:p>
        </p:txBody>
      </p:sp>
      <p:sp>
        <p:nvSpPr>
          <p:cNvPr id="8" name="">
            <a:extLst xmlns:a="http://schemas.openxmlformats.org/drawingml/2006/main">
              <a:ext uri="{FF2B5EF4-FFF2-40B4-BE49-F238E27FC236}">
                <a16:creationId xmlns:a16="http://schemas.microsoft.com/office/drawing/2014/main" id="{EE5388A3-46B8-4F7B-8505-2A15A51E6E9F}"/>
              </a:ext>
            </a:extLst>
          </p:cNvPr>
          <p:cNvSpPr>
            <a:spLocks xmlns:a="http://schemas.openxmlformats.org/drawingml/2006/main" noGrp="1"/>
          </p:cNvSpPr>
          <p:nvPr/>
        </p:nvSpPr>
        <p:spPr>
          <a:xfrm xmlns:a="http://schemas.openxmlformats.org/drawingml/2006/main">
            <a:off x="9906000" y="4152900"/>
            <a:ext cx="1828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8000"/>
              </a:lnSpc>
              <a:buNone/>
              <a:defRPr sz="1350" b="1">
                <a:solidFill>
                  <a:srgbClr val="526650"/>
                </a:solidFill>
                <a:latin typeface="Arial"/>
                <a:ea typeface="Arial"/>
                <a:cs typeface="Arial"/>
              </a:defRPr>
            </a:pPr>
            <a:r>
              <a:rPr sz="1350" b="1">
                <a:solidFill>
                  <a:srgbClr val="526650"/>
                </a:solidFill>
                <a:latin typeface="Arial"/>
                <a:ea typeface="Arial"/>
                <a:cs typeface="Arial"/>
              </a:rPr>
              <a:t>REHEARSE</a:t>
            </a:r>
          </a:p>
          <a:p xmlns:a="http://schemas.openxmlformats.org/drawingml/2006/main">
            <a:pPr algn="ctr">
              <a:lnSpc>
                <a:spcPct val="118000"/>
              </a:lnSpc>
              <a:buNone/>
              <a:defRPr sz="1350" b="1">
                <a:solidFill>
                  <a:srgbClr val="526650"/>
                </a:solidFill>
                <a:latin typeface="Arial"/>
                <a:ea typeface="Arial"/>
                <a:cs typeface="Arial"/>
              </a:defRPr>
            </a:pPr>
            <a:r>
              <a:rPr sz="1350" b="1">
                <a:solidFill>
                  <a:srgbClr val="526650"/>
                </a:solidFill>
                <a:latin typeface="Arial"/>
                <a:ea typeface="Arial"/>
                <a:cs typeface="Arial"/>
              </a:rPr>
              <a:t>REFLECT</a:t>
            </a:r>
          </a:p>
          <a:p xmlns:a="http://schemas.openxmlformats.org/drawingml/2006/main">
            <a:pPr algn="ctr">
              <a:lnSpc>
                <a:spcPct val="118000"/>
              </a:lnSpc>
              <a:buNone/>
              <a:defRPr sz="1350" b="1">
                <a:solidFill>
                  <a:srgbClr val="526650"/>
                </a:solidFill>
                <a:latin typeface="Arial"/>
                <a:ea typeface="Arial"/>
                <a:cs typeface="Arial"/>
              </a:defRPr>
            </a:pPr>
            <a:r>
              <a:rPr sz="1350" b="1">
                <a:solidFill>
                  <a:srgbClr val="526650"/>
                </a:solidFill>
                <a:latin typeface="Arial"/>
                <a:ea typeface="Arial"/>
                <a:cs typeface="Arial"/>
              </a:rPr>
              <a:t>RETRY</a:t>
            </a:r>
          </a:p>
        </p:txBody>
      </p:sp>
    </p:spTree>
    <p:extLst>
      <p:ext uri="{BB962C8B-B14F-4D97-AF65-F5344CB8AC3E}">
        <p14:creationId xmlns:p14="http://schemas.microsoft.com/office/powerpoint/2010/main" val="15726677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769F6E9-0A48-4591-BE91-29371ECF3A17}"/>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AE7E5468-317D-4ADD-9FA3-AA6F40F275C7}"/>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ADFE0CE-6D3E-488E-BBE3-570B275F6C08}"/>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F36526-A981-4817-81A9-47C588DCC824}"/>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The training gap is repetition - not awareness</a:t>
            </a:r>
          </a:p>
        </p:txBody>
      </p:sp>
      <p:sp>
        <p:nvSpPr>
          <p:cNvPr id="5" name="">
            <a:extLst xmlns:a="http://schemas.openxmlformats.org/drawingml/2006/main">
              <a:ext uri="{FF2B5EF4-FFF2-40B4-BE49-F238E27FC236}">
                <a16:creationId xmlns:a16="http://schemas.microsoft.com/office/drawing/2014/main" id="{E3BCCDF6-827A-4778-A231-B8B86782BEB5}"/>
              </a:ext>
            </a:extLst>
          </p:cNvPr>
          <p:cNvSpPr>
            <a:spLocks xmlns:a="http://schemas.openxmlformats.org/drawingml/2006/main" noGrp="1"/>
          </p:cNvSpPr>
          <p:nvPr/>
        </p:nvSpPr>
        <p:spPr>
          <a:xfrm xmlns:a="http://schemas.openxmlformats.org/drawingml/2006/main">
            <a:off x="457200" y="1657350"/>
            <a:ext cx="4762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440"/>
          </a:bodyPr>
          <a:lstStyle xmlns:a="http://schemas.openxmlformats.org/drawingml/2006/main"/>
          <a:p xmlns:a="http://schemas.openxmlformats.org/drawingml/2006/main">
            <a:pPr algn="l">
              <a:lnSpc>
                <a:spcPct val="106000"/>
              </a:lnSpc>
              <a:buNone/>
              <a:defRPr sz="2025" b="1">
                <a:solidFill>
                  <a:srgbClr val="151515"/>
                </a:solidFill>
                <a:latin typeface="Arial"/>
                <a:ea typeface="Arial"/>
                <a:cs typeface="Arial"/>
              </a:defRPr>
            </a:pPr>
            <a:r>
              <a:rPr sz="2025" b="1">
                <a:solidFill>
                  <a:srgbClr val="151515"/>
                </a:solidFill>
                <a:latin typeface="Arial"/>
                <a:ea typeface="Arial"/>
                <a:cs typeface="Arial"/>
              </a:rPr>
              <a:t>Difficult conversations demand empathy under pressure. Students may know the framework, yet still get too few chances to practise it aloud.</a:t>
            </a:r>
          </a:p>
        </p:txBody>
      </p:sp>
      <p:sp>
        <p:nvSpPr>
          <p:cNvPr id="6" name="">
            <a:extLst xmlns:a="http://schemas.openxmlformats.org/drawingml/2006/main">
              <a:ext uri="{FF2B5EF4-FFF2-40B4-BE49-F238E27FC236}">
                <a16:creationId xmlns:a16="http://schemas.microsoft.com/office/drawing/2014/main" id="{E67E5DC5-A310-44A2-8180-A4ED82F4F5BA}"/>
              </a:ext>
            </a:extLst>
          </p:cNvPr>
          <p:cNvSpPr>
            <a:spLocks xmlns:a="http://schemas.openxmlformats.org/drawingml/2006/main" noGrp="1"/>
          </p:cNvSpPr>
          <p:nvPr/>
        </p:nvSpPr>
        <p:spPr>
          <a:xfrm xmlns:a="http://schemas.openxmlformats.org/drawingml/2006/main">
            <a:off x="457200" y="3028950"/>
            <a:ext cx="4762500" cy="47625"/>
          </a:xfrm>
          <a:prstGeom xmlns:a="http://schemas.openxmlformats.org/drawingml/2006/main" prst="rect">
            <a:avLst/>
          </a:prstGeom>
          <a:solidFill xmlns:a="http://schemas.openxmlformats.org/drawingml/2006/main">
            <a:srgbClr val="9EB29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71E01E2-02BE-4690-8534-8D0D021A2737}"/>
              </a:ext>
            </a:extLst>
          </p:cNvPr>
          <p:cNvSpPr>
            <a:spLocks xmlns:a="http://schemas.openxmlformats.org/drawingml/2006/main" noGrp="1"/>
          </p:cNvSpPr>
          <p:nvPr/>
        </p:nvSpPr>
        <p:spPr>
          <a:xfrm xmlns:a="http://schemas.openxmlformats.org/drawingml/2006/main">
            <a:off x="457200" y="3352800"/>
            <a:ext cx="4762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F625F"/>
                </a:solidFill>
                <a:latin typeface="Arial"/>
                <a:ea typeface="Arial"/>
                <a:cs typeface="Arial"/>
              </a:defRPr>
            </a:pPr>
            <a:r>
              <a:rPr sz="1650" b="0">
                <a:solidFill>
                  <a:srgbClr val="5F625F"/>
                </a:solidFill>
                <a:latin typeface="Arial"/>
                <a:ea typeface="Arial"/>
                <a:cs typeface="Arial"/>
              </a:rPr>
              <a:t>Actor simulation remains valuable, but it is scheduled, planning-heavy and capacity-limited.</a:t>
            </a:r>
          </a:p>
        </p:txBody>
      </p:sp>
      <p:sp>
        <p:nvSpPr>
          <p:cNvPr id="8" name="">
            <a:extLst xmlns:a="http://schemas.openxmlformats.org/drawingml/2006/main">
              <a:ext uri="{FF2B5EF4-FFF2-40B4-BE49-F238E27FC236}">
                <a16:creationId xmlns:a16="http://schemas.microsoft.com/office/drawing/2014/main" id="{440874A7-2E79-4680-96EB-308D2551E37F}"/>
              </a:ext>
            </a:extLst>
          </p:cNvPr>
          <p:cNvSpPr>
            <a:spLocks xmlns:a="http://schemas.openxmlformats.org/drawingml/2006/main" noGrp="1"/>
          </p:cNvSpPr>
          <p:nvPr/>
        </p:nvSpPr>
        <p:spPr>
          <a:xfrm xmlns:a="http://schemas.openxmlformats.org/drawingml/2006/main">
            <a:off x="457200" y="4391025"/>
            <a:ext cx="4762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5F625F"/>
                </a:solidFill>
                <a:latin typeface="Arial"/>
                <a:ea typeface="Arial"/>
                <a:cs typeface="Arial"/>
              </a:defRPr>
            </a:pPr>
            <a:r>
              <a:rPr sz="1650" b="0">
                <a:solidFill>
                  <a:srgbClr val="5F625F"/>
                </a:solidFill>
                <a:latin typeface="Arial"/>
                <a:ea typeface="Arial"/>
                <a:cs typeface="Arial"/>
              </a:rPr>
              <a:t>ClinicalMirror adds an on-demand rehearsal layer between high-fidelity sessions: fictional role-play, immediate feedback and another attempt.</a:t>
            </a:r>
          </a:p>
        </p:txBody>
      </p:sp>
      <p:sp>
        <p:nvSpPr>
          <p:cNvPr id="9" name="">
            <a:extLst xmlns:a="http://schemas.openxmlformats.org/drawingml/2006/main">
              <a:ext uri="{FF2B5EF4-FFF2-40B4-BE49-F238E27FC236}">
                <a16:creationId xmlns:a16="http://schemas.microsoft.com/office/drawing/2014/main" id="{1716BD97-7BEE-4B8D-A365-FE251A8CFB99}"/>
              </a:ext>
            </a:extLst>
          </p:cNvPr>
          <p:cNvSpPr>
            <a:spLocks xmlns:a="http://schemas.openxmlformats.org/drawingml/2006/main" noGrp="1"/>
          </p:cNvSpPr>
          <p:nvPr/>
        </p:nvSpPr>
        <p:spPr>
          <a:xfrm xmlns:a="http://schemas.openxmlformats.org/drawingml/2006/main">
            <a:off x="457200" y="5686425"/>
            <a:ext cx="4762500" cy="523875"/>
          </a:xfrm>
          <a:prstGeom xmlns:a="http://schemas.openxmlformats.org/drawingml/2006/main" prst="rect">
            <a:avLst/>
          </a:prstGeom>
          <a:solidFill xmlns:a="http://schemas.openxmlformats.org/drawingml/2006/main">
            <a:srgbClr val="EEF2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AFEB2A5-4540-4C70-9419-1407269CD101}"/>
              </a:ext>
            </a:extLst>
          </p:cNvPr>
          <p:cNvSpPr>
            <a:spLocks xmlns:a="http://schemas.openxmlformats.org/drawingml/2006/main" noGrp="1"/>
          </p:cNvSpPr>
          <p:nvPr/>
        </p:nvSpPr>
        <p:spPr>
          <a:xfrm xmlns:a="http://schemas.openxmlformats.org/drawingml/2006/main">
            <a:off x="647700" y="58388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00" b="1">
                <a:solidFill>
                  <a:srgbClr val="526650"/>
                </a:solidFill>
                <a:latin typeface="Arial"/>
                <a:ea typeface="Arial"/>
                <a:cs typeface="Arial"/>
              </a:defRPr>
            </a:pPr>
            <a:r>
              <a:rPr sz="1500" b="1">
                <a:solidFill>
                  <a:srgbClr val="526650"/>
                </a:solidFill>
                <a:latin typeface="Arial"/>
                <a:ea typeface="Arial"/>
                <a:cs typeface="Arial"/>
              </a:rPr>
              <a:t>Complement simulation. Increase repetition.</a:t>
            </a:r>
          </a:p>
        </p:txBody>
      </p:sp>
      <p:sp>
        <p:nvSpPr>
          <p:cNvPr id="11" name="">
            <a:extLst xmlns:a="http://schemas.openxmlformats.org/drawingml/2006/main">
              <a:ext uri="{FF2B5EF4-FFF2-40B4-BE49-F238E27FC236}">
                <a16:creationId xmlns:a16="http://schemas.microsoft.com/office/drawing/2014/main" id="{F3BE6A54-D5B8-47D2-8A95-19075C3068B2}"/>
              </a:ext>
            </a:extLst>
          </p:cNvPr>
          <p:cNvSpPr>
            <a:spLocks xmlns:a="http://schemas.openxmlformats.org/drawingml/2006/main" noGrp="1"/>
          </p:cNvSpPr>
          <p:nvPr/>
        </p:nvSpPr>
        <p:spPr>
          <a:xfrm xmlns:a="http://schemas.openxmlformats.org/drawingml/2006/main">
            <a:off x="5810250" y="1895475"/>
            <a:ext cx="5981700" cy="3419475"/>
          </a:xfrm>
          <a:prstGeom xmlns:a="http://schemas.openxmlformats.org/drawingml/2006/main" prst="roundRect">
            <a:avLst>
              <a:gd name="adj" fmla="val 1950"/>
            </a:avLst>
          </a:prstGeom>
          <a:solidFill xmlns:a="http://schemas.openxmlformats.org/drawingml/2006/main">
            <a:srgbClr val="FFFFFF"/>
          </a:solidFill>
          <a:ln xmlns:a="http://schemas.openxmlformats.org/drawingml/2006/main" w="9525">
            <a:solidFill>
              <a:srgbClr val="B8BCC4"/>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ee9c1749b8346bd"/>
          <a:srcRect xmlns:a="http://schemas.openxmlformats.org/drawingml/2006/main" l="55" t="0" r="55" b="0"/>
          <a:stretch xmlns:a="http://schemas.openxmlformats.org/drawingml/2006/main">
            <a:fillRect l="0" t="0" r="0" b="0"/>
          </a:stretch>
        </p:blipFill>
        <p:spPr>
          <a:xfrm xmlns:a="http://schemas.openxmlformats.org/drawingml/2006/main">
            <a:off x="5867400" y="1952625"/>
            <a:ext cx="5867400" cy="33051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787B80B-B1DF-4D78-8DA7-986A9E4BA6A2}"/>
              </a:ext>
            </a:extLst>
          </p:cNvPr>
          <p:cNvSpPr>
            <a:spLocks xmlns:a="http://schemas.openxmlformats.org/drawingml/2006/main" noGrp="1"/>
          </p:cNvSpPr>
          <p:nvPr/>
        </p:nvSpPr>
        <p:spPr>
          <a:xfrm xmlns:a="http://schemas.openxmlformats.org/drawingml/2006/main">
            <a:off x="6096000" y="5476875"/>
            <a:ext cx="5410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75" b="0">
                <a:solidFill>
                  <a:srgbClr val="5F625F"/>
                </a:solidFill>
                <a:latin typeface="Arial"/>
                <a:ea typeface="Arial"/>
                <a:cs typeface="Arial"/>
              </a:defRPr>
            </a:pPr>
            <a:r>
              <a:rPr sz="1275" b="0">
                <a:solidFill>
                  <a:srgbClr val="5F625F"/>
                </a:solidFill>
                <a:latin typeface="Arial"/>
                <a:ea typeface="Arial"/>
                <a:cs typeface="Arial"/>
              </a:rPr>
              <a:t>Four difficult-conversation scenarios are available from one browser interface.</a:t>
            </a:r>
          </a:p>
        </p:txBody>
      </p:sp>
    </p:spTree>
    <p:extLst>
      <p:ext uri="{BB962C8B-B14F-4D97-AF65-F5344CB8AC3E}">
        <p14:creationId xmlns:p14="http://schemas.microsoft.com/office/powerpoint/2010/main" val="17701211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E9CF706-D3B5-4A03-B06A-FA052FB93352}"/>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BDC64C46-53BD-4F24-A46E-39F1D5D00F71}"/>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8BED150-2601-48D0-9F35-2CAA3417D261}"/>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11BB26-5B08-49B0-B5E4-03C0919504A5}"/>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One browser session completes the learning loop</a:t>
            </a:r>
          </a:p>
        </p:txBody>
      </p:sp>
      <p:sp>
        <p:nvSpPr>
          <p:cNvPr id="5" name="">
            <a:extLst xmlns:a="http://schemas.openxmlformats.org/drawingml/2006/main">
              <a:ext uri="{FF2B5EF4-FFF2-40B4-BE49-F238E27FC236}">
                <a16:creationId xmlns:a16="http://schemas.microsoft.com/office/drawing/2014/main" id="{9DB5198D-C059-4279-B43D-0D270DDB7ECE}"/>
              </a:ext>
            </a:extLst>
          </p:cNvPr>
          <p:cNvSpPr>
            <a:spLocks xmlns:a="http://schemas.openxmlformats.org/drawingml/2006/main" noGrp="1"/>
          </p:cNvSpPr>
          <p:nvPr/>
        </p:nvSpPr>
        <p:spPr>
          <a:xfrm xmlns:a="http://schemas.openxmlformats.org/drawingml/2006/main">
            <a:off x="400050" y="1657350"/>
            <a:ext cx="3352800" cy="2257425"/>
          </a:xfrm>
          <a:prstGeom xmlns:a="http://schemas.openxmlformats.org/drawingml/2006/main" prst="roundRect">
            <a:avLst>
              <a:gd name="adj" fmla="val 2954"/>
            </a:avLst>
          </a:prstGeom>
          <a:solidFill xmlns:a="http://schemas.openxmlformats.org/drawingml/2006/main">
            <a:srgbClr val="FFFFFF"/>
          </a:solidFill>
          <a:ln xmlns:a="http://schemas.openxmlformats.org/drawingml/2006/main" w="9525">
            <a:solidFill>
              <a:srgbClr val="B8BCC4"/>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d8c42b37d7804861"/>
          <a:srcRect xmlns:a="http://schemas.openxmlformats.org/drawingml/2006/main" l="7485" t="0" r="7485" b="0"/>
          <a:stretch xmlns:a="http://schemas.openxmlformats.org/drawingml/2006/main">
            <a:fillRect l="0" t="0" r="0" b="0"/>
          </a:stretch>
        </p:blipFill>
        <p:spPr>
          <a:xfrm xmlns:a="http://schemas.openxmlformats.org/drawingml/2006/main">
            <a:off x="457200" y="1714500"/>
            <a:ext cx="3238500" cy="2143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B0EE57A-004F-4F90-AA67-273C4DB56527}"/>
              </a:ext>
            </a:extLst>
          </p:cNvPr>
          <p:cNvSpPr>
            <a:spLocks xmlns:a="http://schemas.openxmlformats.org/drawingml/2006/main" noGrp="1"/>
          </p:cNvSpPr>
          <p:nvPr/>
        </p:nvSpPr>
        <p:spPr>
          <a:xfrm xmlns:a="http://schemas.openxmlformats.org/drawingml/2006/main">
            <a:off x="457200" y="4171950"/>
            <a:ext cx="3238500" cy="47625"/>
          </a:xfrm>
          <a:prstGeom xmlns:a="http://schemas.openxmlformats.org/drawingml/2006/main" prst="rect">
            <a:avLst/>
          </a:prstGeom>
          <a:solidFill xmlns:a="http://schemas.openxmlformats.org/drawingml/2006/main">
            <a:srgbClr val="9EB29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2CB130D-A050-433B-8FA4-864F10EF88AB}"/>
              </a:ext>
            </a:extLst>
          </p:cNvPr>
          <p:cNvSpPr>
            <a:spLocks xmlns:a="http://schemas.openxmlformats.org/drawingml/2006/main" noGrp="1"/>
          </p:cNvSpPr>
          <p:nvPr/>
        </p:nvSpPr>
        <p:spPr>
          <a:xfrm xmlns:a="http://schemas.openxmlformats.org/drawingml/2006/main">
            <a:off x="457200" y="44386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9EB299"/>
                </a:solidFill>
                <a:latin typeface="Arial"/>
                <a:ea typeface="Arial"/>
                <a:cs typeface="Arial"/>
              </a:defRPr>
            </a:pPr>
            <a:r>
              <a:rPr sz="1500" b="1">
                <a:solidFill>
                  <a:srgbClr val="9EB299"/>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BE57F758-92BD-4AB7-9E00-61DB527AAADE}"/>
              </a:ext>
            </a:extLst>
          </p:cNvPr>
          <p:cNvSpPr>
            <a:spLocks xmlns:a="http://schemas.openxmlformats.org/drawingml/2006/main" noGrp="1"/>
          </p:cNvSpPr>
          <p:nvPr/>
        </p:nvSpPr>
        <p:spPr>
          <a:xfrm xmlns:a="http://schemas.openxmlformats.org/drawingml/2006/main">
            <a:off x="1009650" y="44196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51515"/>
                </a:solidFill>
                <a:latin typeface="Arial"/>
                <a:ea typeface="Arial"/>
                <a:cs typeface="Arial"/>
              </a:defRPr>
            </a:pPr>
            <a:r>
              <a:rPr sz="1800" b="1">
                <a:solidFill>
                  <a:srgbClr val="151515"/>
                </a:solidFill>
                <a:latin typeface="Arial"/>
                <a:ea typeface="Arial"/>
                <a:cs typeface="Arial"/>
              </a:rPr>
              <a:t>Prepare</a:t>
            </a:r>
          </a:p>
        </p:txBody>
      </p:sp>
      <p:sp>
        <p:nvSpPr>
          <p:cNvPr id="10" name="">
            <a:extLst xmlns:a="http://schemas.openxmlformats.org/drawingml/2006/main">
              <a:ext uri="{FF2B5EF4-FFF2-40B4-BE49-F238E27FC236}">
                <a16:creationId xmlns:a16="http://schemas.microsoft.com/office/drawing/2014/main" id="{0CA90C4E-C101-4AB0-99E2-DBAEFA478EDB}"/>
              </a:ext>
            </a:extLst>
          </p:cNvPr>
          <p:cNvSpPr>
            <a:spLocks xmlns:a="http://schemas.openxmlformats.org/drawingml/2006/main" noGrp="1"/>
          </p:cNvSpPr>
          <p:nvPr/>
        </p:nvSpPr>
        <p:spPr>
          <a:xfrm xmlns:a="http://schemas.openxmlformats.org/drawingml/2006/main">
            <a:off x="1009650" y="4810125"/>
            <a:ext cx="2686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F625F"/>
                </a:solidFill>
                <a:latin typeface="Arial"/>
                <a:ea typeface="Arial"/>
                <a:cs typeface="Arial"/>
              </a:defRPr>
            </a:pPr>
            <a:r>
              <a:rPr sz="1350" b="0">
                <a:solidFill>
                  <a:srgbClr val="5F625F"/>
                </a:solidFill>
                <a:latin typeface="Arial"/>
                <a:ea typeface="Arial"/>
                <a:cs typeface="Arial"/>
              </a:rPr>
              <a:t>Review the fictional context, goal and privacy acknowledgement.</a:t>
            </a:r>
          </a:p>
        </p:txBody>
      </p:sp>
      <p:sp>
        <p:nvSpPr>
          <p:cNvPr id="11" name="">
            <a:extLst xmlns:a="http://schemas.openxmlformats.org/drawingml/2006/main">
              <a:ext uri="{FF2B5EF4-FFF2-40B4-BE49-F238E27FC236}">
                <a16:creationId xmlns:a16="http://schemas.microsoft.com/office/drawing/2014/main" id="{5B0E1B33-6AB6-44CB-841A-7E399CE11991}"/>
              </a:ext>
            </a:extLst>
          </p:cNvPr>
          <p:cNvSpPr>
            <a:spLocks xmlns:a="http://schemas.openxmlformats.org/drawingml/2006/main" noGrp="1"/>
          </p:cNvSpPr>
          <p:nvPr/>
        </p:nvSpPr>
        <p:spPr>
          <a:xfrm xmlns:a="http://schemas.openxmlformats.org/drawingml/2006/main">
            <a:off x="4191000" y="1657350"/>
            <a:ext cx="3352800" cy="2257425"/>
          </a:xfrm>
          <a:prstGeom xmlns:a="http://schemas.openxmlformats.org/drawingml/2006/main" prst="roundRect">
            <a:avLst>
              <a:gd name="adj" fmla="val 2954"/>
            </a:avLst>
          </a:prstGeom>
          <a:solidFill xmlns:a="http://schemas.openxmlformats.org/drawingml/2006/main">
            <a:srgbClr val="FFFFFF"/>
          </a:solidFill>
          <a:ln xmlns:a="http://schemas.openxmlformats.org/drawingml/2006/main" w="9525">
            <a:solidFill>
              <a:srgbClr val="B8BCC4"/>
            </a:solidFill>
            <a:prstDash val="solid"/>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e3fe006dd8244d3"/>
          <a:srcRect xmlns:a="http://schemas.openxmlformats.org/drawingml/2006/main" l="7500" t="0" r="7500" b="0"/>
          <a:stretch xmlns:a="http://schemas.openxmlformats.org/drawingml/2006/main">
            <a:fillRect l="0" t="0" r="0" b="0"/>
          </a:stretch>
        </p:blipFill>
        <p:spPr>
          <a:xfrm xmlns:a="http://schemas.openxmlformats.org/drawingml/2006/main">
            <a:off x="4248150" y="1714500"/>
            <a:ext cx="3238500" cy="21431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AEA74140-6B35-4605-AFC6-094F4F16ACE1}"/>
              </a:ext>
            </a:extLst>
          </p:cNvPr>
          <p:cNvSpPr>
            <a:spLocks xmlns:a="http://schemas.openxmlformats.org/drawingml/2006/main" noGrp="1"/>
          </p:cNvSpPr>
          <p:nvPr/>
        </p:nvSpPr>
        <p:spPr>
          <a:xfrm xmlns:a="http://schemas.openxmlformats.org/drawingml/2006/main">
            <a:off x="4248150" y="4171950"/>
            <a:ext cx="3238500" cy="47625"/>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CDF82D4-874F-46CC-BB34-CF929094F81D}"/>
              </a:ext>
            </a:extLst>
          </p:cNvPr>
          <p:cNvSpPr>
            <a:spLocks xmlns:a="http://schemas.openxmlformats.org/drawingml/2006/main" noGrp="1"/>
          </p:cNvSpPr>
          <p:nvPr/>
        </p:nvSpPr>
        <p:spPr>
          <a:xfrm xmlns:a="http://schemas.openxmlformats.org/drawingml/2006/main">
            <a:off x="4248150" y="44386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6DCBF4"/>
                </a:solidFill>
                <a:latin typeface="Arial"/>
                <a:ea typeface="Arial"/>
                <a:cs typeface="Arial"/>
              </a:defRPr>
            </a:pPr>
            <a:r>
              <a:rPr sz="1500" b="1">
                <a:solidFill>
                  <a:srgbClr val="6DCBF4"/>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317E0453-1DB3-4909-898F-BACC354726E2}"/>
              </a:ext>
            </a:extLst>
          </p:cNvPr>
          <p:cNvSpPr>
            <a:spLocks xmlns:a="http://schemas.openxmlformats.org/drawingml/2006/main" noGrp="1"/>
          </p:cNvSpPr>
          <p:nvPr/>
        </p:nvSpPr>
        <p:spPr>
          <a:xfrm xmlns:a="http://schemas.openxmlformats.org/drawingml/2006/main">
            <a:off x="4800600" y="44196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51515"/>
                </a:solidFill>
                <a:latin typeface="Arial"/>
                <a:ea typeface="Arial"/>
                <a:cs typeface="Arial"/>
              </a:defRPr>
            </a:pPr>
            <a:r>
              <a:rPr sz="1800" b="1">
                <a:solidFill>
                  <a:srgbClr val="151515"/>
                </a:solidFill>
                <a:latin typeface="Arial"/>
                <a:ea typeface="Arial"/>
                <a:cs typeface="Arial"/>
              </a:rPr>
              <a:t>Practise</a:t>
            </a:r>
          </a:p>
        </p:txBody>
      </p:sp>
      <p:sp>
        <p:nvSpPr>
          <p:cNvPr id="16" name="">
            <a:extLst xmlns:a="http://schemas.openxmlformats.org/drawingml/2006/main">
              <a:ext uri="{FF2B5EF4-FFF2-40B4-BE49-F238E27FC236}">
                <a16:creationId xmlns:a16="http://schemas.microsoft.com/office/drawing/2014/main" id="{A55BC212-174A-420F-AD12-FEFEBC894389}"/>
              </a:ext>
            </a:extLst>
          </p:cNvPr>
          <p:cNvSpPr>
            <a:spLocks xmlns:a="http://schemas.openxmlformats.org/drawingml/2006/main" noGrp="1"/>
          </p:cNvSpPr>
          <p:nvPr/>
        </p:nvSpPr>
        <p:spPr>
          <a:xfrm xmlns:a="http://schemas.openxmlformats.org/drawingml/2006/main">
            <a:off x="4800600" y="4810125"/>
            <a:ext cx="2686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F625F"/>
                </a:solidFill>
                <a:latin typeface="Arial"/>
                <a:ea typeface="Arial"/>
                <a:cs typeface="Arial"/>
              </a:defRPr>
            </a:pPr>
            <a:r>
              <a:rPr sz="1350" b="0">
                <a:solidFill>
                  <a:srgbClr val="5F625F"/>
                </a:solidFill>
                <a:latin typeface="Arial"/>
                <a:ea typeface="Arial"/>
                <a:cs typeface="Arial"/>
              </a:rPr>
              <a:t>Speak or type while the patient responds to wording and emotional direction.</a:t>
            </a:r>
          </a:p>
        </p:txBody>
      </p:sp>
      <p:sp>
        <p:nvSpPr>
          <p:cNvPr id="17" name="">
            <a:extLst xmlns:a="http://schemas.openxmlformats.org/drawingml/2006/main">
              <a:ext uri="{FF2B5EF4-FFF2-40B4-BE49-F238E27FC236}">
                <a16:creationId xmlns:a16="http://schemas.microsoft.com/office/drawing/2014/main" id="{DD501B1B-FA99-4668-BE91-330E6A937157}"/>
              </a:ext>
            </a:extLst>
          </p:cNvPr>
          <p:cNvSpPr>
            <a:spLocks xmlns:a="http://schemas.openxmlformats.org/drawingml/2006/main" noGrp="1"/>
          </p:cNvSpPr>
          <p:nvPr/>
        </p:nvSpPr>
        <p:spPr>
          <a:xfrm xmlns:a="http://schemas.openxmlformats.org/drawingml/2006/main">
            <a:off x="7981950" y="1657350"/>
            <a:ext cx="3352800" cy="2257425"/>
          </a:xfrm>
          <a:prstGeom xmlns:a="http://schemas.openxmlformats.org/drawingml/2006/main" prst="roundRect">
            <a:avLst>
              <a:gd name="adj" fmla="val 2954"/>
            </a:avLst>
          </a:prstGeom>
          <a:solidFill xmlns:a="http://schemas.openxmlformats.org/drawingml/2006/main">
            <a:srgbClr val="FFFFFF"/>
          </a:solidFill>
          <a:ln xmlns:a="http://schemas.openxmlformats.org/drawingml/2006/main" w="9525">
            <a:solidFill>
              <a:srgbClr val="B8BCC4"/>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f71bd1e8e5414432"/>
          <a:srcRect xmlns:a="http://schemas.openxmlformats.org/drawingml/2006/main" l="7485" t="0" r="7485" b="0"/>
          <a:stretch xmlns:a="http://schemas.openxmlformats.org/drawingml/2006/main">
            <a:fillRect l="0" t="0" r="0" b="0"/>
          </a:stretch>
        </p:blipFill>
        <p:spPr>
          <a:xfrm xmlns:a="http://schemas.openxmlformats.org/drawingml/2006/main">
            <a:off x="8039100" y="1714500"/>
            <a:ext cx="3238500" cy="214312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8A5C42D7-5146-4AA7-BBCF-2CAE6279B46A}"/>
              </a:ext>
            </a:extLst>
          </p:cNvPr>
          <p:cNvSpPr>
            <a:spLocks xmlns:a="http://schemas.openxmlformats.org/drawingml/2006/main" noGrp="1"/>
          </p:cNvSpPr>
          <p:nvPr/>
        </p:nvSpPr>
        <p:spPr>
          <a:xfrm xmlns:a="http://schemas.openxmlformats.org/drawingml/2006/main">
            <a:off x="8039100" y="4171950"/>
            <a:ext cx="3238500" cy="47625"/>
          </a:xfrm>
          <a:prstGeom xmlns:a="http://schemas.openxmlformats.org/drawingml/2006/main" prst="rect">
            <a:avLst/>
          </a:prstGeom>
          <a:solidFill xmlns:a="http://schemas.openxmlformats.org/drawingml/2006/main">
            <a:srgbClr val="FAB47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4746B6D-F155-4DD3-9FE8-BA4C6F800084}"/>
              </a:ext>
            </a:extLst>
          </p:cNvPr>
          <p:cNvSpPr>
            <a:spLocks xmlns:a="http://schemas.openxmlformats.org/drawingml/2006/main" noGrp="1"/>
          </p:cNvSpPr>
          <p:nvPr/>
        </p:nvSpPr>
        <p:spPr>
          <a:xfrm xmlns:a="http://schemas.openxmlformats.org/drawingml/2006/main">
            <a:off x="8039100" y="44386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FAB475"/>
                </a:solidFill>
                <a:latin typeface="Arial"/>
                <a:ea typeface="Arial"/>
                <a:cs typeface="Arial"/>
              </a:defRPr>
            </a:pPr>
            <a:r>
              <a:rPr sz="1500" b="1">
                <a:solidFill>
                  <a:srgbClr val="FAB475"/>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B6A3A0D4-77A5-46B1-8719-DD2E12506E3A}"/>
              </a:ext>
            </a:extLst>
          </p:cNvPr>
          <p:cNvSpPr>
            <a:spLocks xmlns:a="http://schemas.openxmlformats.org/drawingml/2006/main" noGrp="1"/>
          </p:cNvSpPr>
          <p:nvPr/>
        </p:nvSpPr>
        <p:spPr>
          <a:xfrm xmlns:a="http://schemas.openxmlformats.org/drawingml/2006/main">
            <a:off x="8591550" y="4419600"/>
            <a:ext cx="2686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51515"/>
                </a:solidFill>
                <a:latin typeface="Arial"/>
                <a:ea typeface="Arial"/>
                <a:cs typeface="Arial"/>
              </a:defRPr>
            </a:pPr>
            <a:r>
              <a:rPr sz="1800" b="1">
                <a:solidFill>
                  <a:srgbClr val="151515"/>
                </a:solidFill>
                <a:latin typeface="Arial"/>
                <a:ea typeface="Arial"/>
                <a:cs typeface="Arial"/>
              </a:rPr>
              <a:t>Reflect and retry</a:t>
            </a:r>
          </a:p>
        </p:txBody>
      </p:sp>
      <p:sp>
        <p:nvSpPr>
          <p:cNvPr id="22" name="">
            <a:extLst xmlns:a="http://schemas.openxmlformats.org/drawingml/2006/main">
              <a:ext uri="{FF2B5EF4-FFF2-40B4-BE49-F238E27FC236}">
                <a16:creationId xmlns:a16="http://schemas.microsoft.com/office/drawing/2014/main" id="{0E2B054B-A441-4B5A-A03E-656C5F5327A0}"/>
              </a:ext>
            </a:extLst>
          </p:cNvPr>
          <p:cNvSpPr>
            <a:spLocks xmlns:a="http://schemas.openxmlformats.org/drawingml/2006/main" noGrp="1"/>
          </p:cNvSpPr>
          <p:nvPr/>
        </p:nvSpPr>
        <p:spPr>
          <a:xfrm xmlns:a="http://schemas.openxmlformats.org/drawingml/2006/main">
            <a:off x="8591550" y="4810125"/>
            <a:ext cx="2686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350" b="0">
                <a:solidFill>
                  <a:srgbClr val="5F625F"/>
                </a:solidFill>
                <a:latin typeface="Arial"/>
                <a:ea typeface="Arial"/>
                <a:cs typeface="Arial"/>
              </a:defRPr>
            </a:pPr>
            <a:r>
              <a:rPr sz="1350" b="0">
                <a:solidFill>
                  <a:srgbClr val="5F625F"/>
                </a:solidFill>
                <a:latin typeface="Arial"/>
                <a:ea typeface="Arial"/>
                <a:cs typeface="Arial"/>
              </a:rPr>
              <a:t>See turn-linked evidence, improvements and a concrete retry plan.</a:t>
            </a:r>
          </a:p>
        </p:txBody>
      </p:sp>
      <p:sp>
        <p:nvSpPr>
          <p:cNvPr id="23" name="">
            <a:extLst xmlns:a="http://schemas.openxmlformats.org/drawingml/2006/main">
              <a:ext uri="{FF2B5EF4-FFF2-40B4-BE49-F238E27FC236}">
                <a16:creationId xmlns:a16="http://schemas.microsoft.com/office/drawing/2014/main" id="{EF53B9BD-3A1C-4E60-9AFA-FA352C672295}"/>
              </a:ext>
            </a:extLst>
          </p:cNvPr>
          <p:cNvSpPr>
            <a:spLocks xmlns:a="http://schemas.openxmlformats.org/drawingml/2006/main" noGrp="1"/>
          </p:cNvSpPr>
          <p:nvPr/>
        </p:nvSpPr>
        <p:spPr>
          <a:xfrm xmlns:a="http://schemas.openxmlformats.org/drawingml/2006/main">
            <a:off x="457200" y="5857875"/>
            <a:ext cx="108204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4D98813-51BE-4194-AB1D-A48C1BEAF141}"/>
              </a:ext>
            </a:extLst>
          </p:cNvPr>
          <p:cNvSpPr>
            <a:spLocks xmlns:a="http://schemas.openxmlformats.org/drawingml/2006/main" noGrp="1"/>
          </p:cNvSpPr>
          <p:nvPr/>
        </p:nvSpPr>
        <p:spPr>
          <a:xfrm xmlns:a="http://schemas.openxmlformats.org/drawingml/2006/main">
            <a:off x="457200" y="6048375"/>
            <a:ext cx="10820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350" b="0">
                <a:solidFill>
                  <a:srgbClr val="526650"/>
                </a:solidFill>
                <a:latin typeface="Arial"/>
                <a:ea typeface="Arial"/>
                <a:cs typeface="Arial"/>
              </a:defRPr>
            </a:pPr>
            <a:r>
              <a:rPr sz="1350" b="0">
                <a:solidFill>
                  <a:srgbClr val="526650"/>
                </a:solidFill>
                <a:latin typeface="Arial"/>
                <a:ea typeface="Arial"/>
                <a:cs typeface="Arial"/>
              </a:rPr>
              <a:t>Retry history remains in the browser session - no learner account or SQL database is required for the prototype.</a:t>
            </a:r>
          </a:p>
        </p:txBody>
      </p:sp>
    </p:spTree>
    <p:extLst>
      <p:ext uri="{BB962C8B-B14F-4D97-AF65-F5344CB8AC3E}">
        <p14:creationId xmlns:p14="http://schemas.microsoft.com/office/powerpoint/2010/main" val="3239947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CA15DB2-4A7B-42A0-88D9-E7C67112B782}"/>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B2722CEF-B6BC-4CB7-A38B-8437BE888A76}"/>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65A2BE9-6EB9-4673-B49C-0A2880DEE77D}"/>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CE380E4-B8E6-4532-840C-36660E4A588B}"/>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The patient changes with the learner - not a script</a:t>
            </a:r>
          </a:p>
        </p:txBody>
      </p:sp>
      <p:sp>
        <p:nvSpPr>
          <p:cNvPr id="5" name="">
            <a:extLst xmlns:a="http://schemas.openxmlformats.org/drawingml/2006/main">
              <a:ext uri="{FF2B5EF4-FFF2-40B4-BE49-F238E27FC236}">
                <a16:creationId xmlns:a16="http://schemas.microsoft.com/office/drawing/2014/main" id="{FA3D8DBD-42C0-4AC3-A6B5-41D8403D6E78}"/>
              </a:ext>
            </a:extLst>
          </p:cNvPr>
          <p:cNvSpPr>
            <a:spLocks xmlns:a="http://schemas.openxmlformats.org/drawingml/2006/main" noGrp="1"/>
          </p:cNvSpPr>
          <p:nvPr/>
        </p:nvSpPr>
        <p:spPr>
          <a:xfrm xmlns:a="http://schemas.openxmlformats.org/drawingml/2006/main">
            <a:off x="400050" y="1600200"/>
            <a:ext cx="7010400" cy="3990975"/>
          </a:xfrm>
          <a:prstGeom xmlns:a="http://schemas.openxmlformats.org/drawingml/2006/main" prst="roundRect">
            <a:avLst>
              <a:gd name="adj" fmla="val 1671"/>
            </a:avLst>
          </a:prstGeom>
          <a:solidFill xmlns:a="http://schemas.openxmlformats.org/drawingml/2006/main">
            <a:srgbClr val="FFFFFF"/>
          </a:solidFill>
          <a:ln xmlns:a="http://schemas.openxmlformats.org/drawingml/2006/main" w="9525">
            <a:solidFill>
              <a:srgbClr val="B8BCC4"/>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a261ccb6aff4b1f"/>
          <a:srcRect xmlns:a="http://schemas.openxmlformats.org/drawingml/2006/main" l="0" t="31" r="0" b="31"/>
          <a:stretch xmlns:a="http://schemas.openxmlformats.org/drawingml/2006/main">
            <a:fillRect l="0" t="0" r="0" b="0"/>
          </a:stretch>
        </p:blipFill>
        <p:spPr>
          <a:xfrm xmlns:a="http://schemas.openxmlformats.org/drawingml/2006/main">
            <a:off x="457200" y="1657350"/>
            <a:ext cx="6896100" cy="38766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DECB7DF-8E24-4292-9936-6BFAEAC96B3F}"/>
              </a:ext>
            </a:extLst>
          </p:cNvPr>
          <p:cNvSpPr>
            <a:spLocks xmlns:a="http://schemas.openxmlformats.org/drawingml/2006/main" noGrp="1"/>
          </p:cNvSpPr>
          <p:nvPr/>
        </p:nvSpPr>
        <p:spPr>
          <a:xfrm xmlns:a="http://schemas.openxmlformats.org/drawingml/2006/main">
            <a:off x="7848600" y="171450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4423"/>
          </a:bodyPr>
          <a:lstStyle xmlns:a="http://schemas.openxmlformats.org/drawingml/2006/main"/>
          <a:p xmlns:a="http://schemas.openxmlformats.org/drawingml/2006/main">
            <a:pPr algn="l">
              <a:lnSpc>
                <a:spcPct val="102000"/>
              </a:lnSpc>
              <a:buNone/>
              <a:defRPr sz="2250" b="1">
                <a:solidFill>
                  <a:srgbClr val="151515"/>
                </a:solidFill>
                <a:latin typeface="Arial"/>
                <a:ea typeface="Arial"/>
                <a:cs typeface="Arial"/>
              </a:defRPr>
            </a:pPr>
            <a:r>
              <a:rPr sz="2250" b="1">
                <a:solidFill>
                  <a:srgbClr val="151515"/>
                </a:solidFill>
                <a:latin typeface="Arial"/>
                <a:ea typeface="Arial"/>
                <a:cs typeface="Arial"/>
              </a:rPr>
              <a:t>One learning loop, flexible delivery</a:t>
            </a:r>
          </a:p>
        </p:txBody>
      </p:sp>
      <p:sp>
        <p:nvSpPr>
          <p:cNvPr id="8" name="">
            <a:extLst xmlns:a="http://schemas.openxmlformats.org/drawingml/2006/main">
              <a:ext uri="{FF2B5EF4-FFF2-40B4-BE49-F238E27FC236}">
                <a16:creationId xmlns:a16="http://schemas.microsoft.com/office/drawing/2014/main" id="{1B65D0B7-EE12-47A5-8AD8-1A27F7A72BDD}"/>
              </a:ext>
            </a:extLst>
          </p:cNvPr>
          <p:cNvSpPr>
            <a:spLocks xmlns:a="http://schemas.openxmlformats.org/drawingml/2006/main" noGrp="1"/>
          </p:cNvSpPr>
          <p:nvPr/>
        </p:nvSpPr>
        <p:spPr>
          <a:xfrm xmlns:a="http://schemas.openxmlformats.org/drawingml/2006/main">
            <a:off x="7848600" y="260032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9EB299"/>
                </a:solidFill>
                <a:latin typeface="Arial"/>
                <a:ea typeface="Arial"/>
                <a:cs typeface="Arial"/>
              </a:defRPr>
            </a:pPr>
            <a:r>
              <a:rPr sz="1650" b="1">
                <a:solidFill>
                  <a:srgbClr val="9EB299"/>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0A45A534-1255-46D9-AABC-BE123C590ED7}"/>
              </a:ext>
            </a:extLst>
          </p:cNvPr>
          <p:cNvSpPr>
            <a:spLocks xmlns:a="http://schemas.openxmlformats.org/drawingml/2006/main" noGrp="1"/>
          </p:cNvSpPr>
          <p:nvPr/>
        </p:nvSpPr>
        <p:spPr>
          <a:xfrm xmlns:a="http://schemas.openxmlformats.org/drawingml/2006/main">
            <a:off x="8458200" y="260032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Stylised avatar</a:t>
            </a:r>
          </a:p>
        </p:txBody>
      </p:sp>
      <p:sp>
        <p:nvSpPr>
          <p:cNvPr id="10" name="">
            <a:extLst xmlns:a="http://schemas.openxmlformats.org/drawingml/2006/main">
              <a:ext uri="{FF2B5EF4-FFF2-40B4-BE49-F238E27FC236}">
                <a16:creationId xmlns:a16="http://schemas.microsoft.com/office/drawing/2014/main" id="{453A3EB5-FD36-4FEE-B9EA-3E2CA04015CC}"/>
              </a:ext>
            </a:extLst>
          </p:cNvPr>
          <p:cNvSpPr>
            <a:spLocks xmlns:a="http://schemas.openxmlformats.org/drawingml/2006/main" noGrp="1"/>
          </p:cNvSpPr>
          <p:nvPr/>
        </p:nvSpPr>
        <p:spPr>
          <a:xfrm xmlns:a="http://schemas.openxmlformats.org/drawingml/2006/main">
            <a:off x="8458200" y="2962275"/>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Instant, expressive and available without an external avatar service.</a:t>
            </a:r>
          </a:p>
        </p:txBody>
      </p:sp>
      <p:sp>
        <p:nvSpPr>
          <p:cNvPr id="11" name="">
            <a:extLst xmlns:a="http://schemas.openxmlformats.org/drawingml/2006/main">
              <a:ext uri="{FF2B5EF4-FFF2-40B4-BE49-F238E27FC236}">
                <a16:creationId xmlns:a16="http://schemas.microsoft.com/office/drawing/2014/main" id="{4438ED69-2BC9-4933-A007-5EC2DEBEA820}"/>
              </a:ext>
            </a:extLst>
          </p:cNvPr>
          <p:cNvSpPr>
            <a:spLocks xmlns:a="http://schemas.openxmlformats.org/drawingml/2006/main" noGrp="1"/>
          </p:cNvSpPr>
          <p:nvPr/>
        </p:nvSpPr>
        <p:spPr>
          <a:xfrm xmlns:a="http://schemas.openxmlformats.org/drawingml/2006/main">
            <a:off x="7848600" y="364807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6DCBF4"/>
                </a:solidFill>
                <a:latin typeface="Arial"/>
                <a:ea typeface="Arial"/>
                <a:cs typeface="Arial"/>
              </a:defRPr>
            </a:pPr>
            <a:r>
              <a:rPr sz="1650" b="1">
                <a:solidFill>
                  <a:srgbClr val="6DCBF4"/>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E70F193C-BFD8-47E9-8D64-436A2E2141A8}"/>
              </a:ext>
            </a:extLst>
          </p:cNvPr>
          <p:cNvSpPr>
            <a:spLocks xmlns:a="http://schemas.openxmlformats.org/drawingml/2006/main" noGrp="1"/>
          </p:cNvSpPr>
          <p:nvPr/>
        </p:nvSpPr>
        <p:spPr>
          <a:xfrm xmlns:a="http://schemas.openxmlformats.org/drawingml/2006/main">
            <a:off x="8458200" y="364807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Live video patient</a:t>
            </a:r>
          </a:p>
        </p:txBody>
      </p:sp>
      <p:sp>
        <p:nvSpPr>
          <p:cNvPr id="13" name="">
            <a:extLst xmlns:a="http://schemas.openxmlformats.org/drawingml/2006/main">
              <a:ext uri="{FF2B5EF4-FFF2-40B4-BE49-F238E27FC236}">
                <a16:creationId xmlns:a16="http://schemas.microsoft.com/office/drawing/2014/main" id="{B59A4C74-98A7-472F-B600-DA6699A0C22A}"/>
              </a:ext>
            </a:extLst>
          </p:cNvPr>
          <p:cNvSpPr>
            <a:spLocks xmlns:a="http://schemas.openxmlformats.org/drawingml/2006/main" noGrp="1"/>
          </p:cNvSpPr>
          <p:nvPr/>
        </p:nvSpPr>
        <p:spPr>
          <a:xfrm xmlns:a="http://schemas.openxmlformats.org/drawingml/2006/main">
            <a:off x="8458200" y="4010025"/>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Tavus CVI streams a photorealistic spoken patient through Daily WebRTC.</a:t>
            </a:r>
          </a:p>
        </p:txBody>
      </p:sp>
      <p:sp>
        <p:nvSpPr>
          <p:cNvPr id="14" name="">
            <a:extLst xmlns:a="http://schemas.openxmlformats.org/drawingml/2006/main">
              <a:ext uri="{FF2B5EF4-FFF2-40B4-BE49-F238E27FC236}">
                <a16:creationId xmlns:a16="http://schemas.microsoft.com/office/drawing/2014/main" id="{FE3E9FED-D35A-47B7-8D2D-5897CB510391}"/>
              </a:ext>
            </a:extLst>
          </p:cNvPr>
          <p:cNvSpPr>
            <a:spLocks xmlns:a="http://schemas.openxmlformats.org/drawingml/2006/main" noGrp="1"/>
          </p:cNvSpPr>
          <p:nvPr/>
        </p:nvSpPr>
        <p:spPr>
          <a:xfrm xmlns:a="http://schemas.openxmlformats.org/drawingml/2006/main">
            <a:off x="7848600" y="4695825"/>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FAB475"/>
                </a:solidFill>
                <a:latin typeface="Arial"/>
                <a:ea typeface="Arial"/>
                <a:cs typeface="Arial"/>
              </a:defRPr>
            </a:pPr>
            <a:r>
              <a:rPr sz="1650" b="1">
                <a:solidFill>
                  <a:srgbClr val="FAB475"/>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6FBAAC5F-CBB7-48E6-A296-EEE53B03E68F}"/>
              </a:ext>
            </a:extLst>
          </p:cNvPr>
          <p:cNvSpPr>
            <a:spLocks xmlns:a="http://schemas.openxmlformats.org/drawingml/2006/main" noGrp="1"/>
          </p:cNvSpPr>
          <p:nvPr/>
        </p:nvSpPr>
        <p:spPr>
          <a:xfrm xmlns:a="http://schemas.openxmlformats.org/drawingml/2006/main">
            <a:off x="8458200" y="4695825"/>
            <a:ext cx="281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Adaptive patient voice</a:t>
            </a:r>
          </a:p>
        </p:txBody>
      </p:sp>
      <p:sp>
        <p:nvSpPr>
          <p:cNvPr id="16" name="">
            <a:extLst xmlns:a="http://schemas.openxmlformats.org/drawingml/2006/main">
              <a:ext uri="{FF2B5EF4-FFF2-40B4-BE49-F238E27FC236}">
                <a16:creationId xmlns:a16="http://schemas.microsoft.com/office/drawing/2014/main" id="{1E0A8FF6-DFE3-46B4-9F40-3D1FA4678BBB}"/>
              </a:ext>
            </a:extLst>
          </p:cNvPr>
          <p:cNvSpPr>
            <a:spLocks xmlns:a="http://schemas.openxmlformats.org/drawingml/2006/main" noGrp="1"/>
          </p:cNvSpPr>
          <p:nvPr/>
        </p:nvSpPr>
        <p:spPr>
          <a:xfrm xmlns:a="http://schemas.openxmlformats.org/drawingml/2006/main">
            <a:off x="8458200" y="5057775"/>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68"/>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ElevenLabs adds optional emotional TTS; browser speech remains the fallback.</a:t>
            </a:r>
          </a:p>
        </p:txBody>
      </p:sp>
      <p:sp>
        <p:nvSpPr>
          <p:cNvPr id="17" name="">
            <a:extLst xmlns:a="http://schemas.openxmlformats.org/drawingml/2006/main">
              <a:ext uri="{FF2B5EF4-FFF2-40B4-BE49-F238E27FC236}">
                <a16:creationId xmlns:a16="http://schemas.microsoft.com/office/drawing/2014/main" id="{7EE272E6-4E8E-4651-B3BF-0C714AB79D23}"/>
              </a:ext>
            </a:extLst>
          </p:cNvPr>
          <p:cNvSpPr>
            <a:spLocks xmlns:a="http://schemas.openxmlformats.org/drawingml/2006/main" noGrp="1"/>
          </p:cNvSpPr>
          <p:nvPr/>
        </p:nvSpPr>
        <p:spPr>
          <a:xfrm xmlns:a="http://schemas.openxmlformats.org/drawingml/2006/main">
            <a:off x="457200" y="5857875"/>
            <a:ext cx="10820400" cy="4476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534EFD2-7EE6-43FD-A0F2-12605A926926}"/>
              </a:ext>
            </a:extLst>
          </p:cNvPr>
          <p:cNvSpPr>
            <a:spLocks xmlns:a="http://schemas.openxmlformats.org/drawingml/2006/main" noGrp="1"/>
          </p:cNvSpPr>
          <p:nvPr/>
        </p:nvSpPr>
        <p:spPr>
          <a:xfrm xmlns:a="http://schemas.openxmlformats.org/drawingml/2006/main">
            <a:off x="647700" y="5991225"/>
            <a:ext cx="1043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350" b="1">
                <a:solidFill>
                  <a:srgbClr val="151515"/>
                </a:solidFill>
                <a:latin typeface="Arial"/>
                <a:ea typeface="Arial"/>
                <a:cs typeface="Arial"/>
              </a:defRPr>
            </a:pPr>
            <a:r>
              <a:rPr sz="1350" b="1">
                <a:solidFill>
                  <a:srgbClr val="151515"/>
                </a:solidFill>
                <a:latin typeface="Arial"/>
                <a:ea typeface="Arial"/>
                <a:cs typeface="Arial"/>
              </a:rPr>
              <a:t>Voice or text input  |  context-aware replies  |  visible emotion and intensity  |  graceful fallback</a:t>
            </a:r>
          </a:p>
        </p:txBody>
      </p:sp>
    </p:spTree>
    <p:extLst>
      <p:ext uri="{BB962C8B-B14F-4D97-AF65-F5344CB8AC3E}">
        <p14:creationId xmlns:p14="http://schemas.microsoft.com/office/powerpoint/2010/main" val="12942941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1D778E9-AF00-4119-B6F3-415A5C94F455}"/>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D019032C-C2CF-4C2D-B8DA-E88BC0072BA8}"/>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4ACBB38A-B807-4355-9DFD-569B513B535B}"/>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5CD7858-0E64-423A-A4CC-4BD96C77CD40}"/>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A modular architecture keeps the learning loop running</a:t>
            </a:r>
          </a:p>
        </p:txBody>
      </p:sp>
      <p:sp>
        <p:nvSpPr>
          <p:cNvPr id="5" name="">
            <a:extLst xmlns:a="http://schemas.openxmlformats.org/drawingml/2006/main">
              <a:ext uri="{FF2B5EF4-FFF2-40B4-BE49-F238E27FC236}">
                <a16:creationId xmlns:a16="http://schemas.microsoft.com/office/drawing/2014/main" id="{F0FE87C6-7BA1-4CB6-8529-8A15B774D83A}"/>
              </a:ext>
            </a:extLst>
          </p:cNvPr>
          <p:cNvSpPr>
            <a:spLocks xmlns:a="http://schemas.openxmlformats.org/drawingml/2006/main" noGrp="1"/>
          </p:cNvSpPr>
          <p:nvPr/>
        </p:nvSpPr>
        <p:spPr>
          <a:xfrm xmlns:a="http://schemas.openxmlformats.org/drawingml/2006/main">
            <a:off x="3133725" y="2724150"/>
            <a:ext cx="981075" cy="228600"/>
          </a:xfrm>
          <a:prstGeom xmlns:a="http://schemas.openxmlformats.org/drawingml/2006/main" prst="rightArrow">
            <a:avLst/>
          </a:prstGeom>
          <a:solidFill xmlns:a="http://schemas.openxmlformats.org/drawingml/2006/main">
            <a:srgbClr val="B8BCC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A4ADACB-0EB8-44FA-9D9B-0488E003F678}"/>
              </a:ext>
            </a:extLst>
          </p:cNvPr>
          <p:cNvSpPr>
            <a:spLocks xmlns:a="http://schemas.openxmlformats.org/drawingml/2006/main" noGrp="1"/>
          </p:cNvSpPr>
          <p:nvPr/>
        </p:nvSpPr>
        <p:spPr>
          <a:xfrm xmlns:a="http://schemas.openxmlformats.org/drawingml/2006/main">
            <a:off x="7296150" y="1952625"/>
            <a:ext cx="990600" cy="209550"/>
          </a:xfrm>
          <a:prstGeom xmlns:a="http://schemas.openxmlformats.org/drawingml/2006/main" prst="rightArrow">
            <a:avLst/>
          </a:prstGeom>
          <a:solidFill xmlns:a="http://schemas.openxmlformats.org/drawingml/2006/main">
            <a:srgbClr val="9EB29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258F8F3-7A73-46B0-BA5B-EEAB69F2D7A1}"/>
              </a:ext>
            </a:extLst>
          </p:cNvPr>
          <p:cNvSpPr>
            <a:spLocks xmlns:a="http://schemas.openxmlformats.org/drawingml/2006/main" noGrp="1"/>
          </p:cNvSpPr>
          <p:nvPr/>
        </p:nvSpPr>
        <p:spPr>
          <a:xfrm xmlns:a="http://schemas.openxmlformats.org/drawingml/2006/main">
            <a:off x="7296150" y="3076575"/>
            <a:ext cx="990600" cy="209550"/>
          </a:xfrm>
          <a:prstGeom xmlns:a="http://schemas.openxmlformats.org/drawingml/2006/main" prst="rightArrow">
            <a:avLst/>
          </a:prstGeom>
          <a:solidFill xmlns:a="http://schemas.openxmlformats.org/drawingml/2006/main">
            <a:srgbClr val="6DCB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7996B31-40C4-4F1C-AF4D-8AA9B2153B1E}"/>
              </a:ext>
            </a:extLst>
          </p:cNvPr>
          <p:cNvSpPr>
            <a:spLocks xmlns:a="http://schemas.openxmlformats.org/drawingml/2006/main" noGrp="1"/>
          </p:cNvSpPr>
          <p:nvPr/>
        </p:nvSpPr>
        <p:spPr>
          <a:xfrm xmlns:a="http://schemas.openxmlformats.org/drawingml/2006/main">
            <a:off x="7296150" y="4200525"/>
            <a:ext cx="990600" cy="209550"/>
          </a:xfrm>
          <a:prstGeom xmlns:a="http://schemas.openxmlformats.org/drawingml/2006/main" prst="rightArrow">
            <a:avLst/>
          </a:prstGeom>
          <a:solidFill xmlns:a="http://schemas.openxmlformats.org/drawingml/2006/main">
            <a:srgbClr val="FAB47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0692910-DFB3-43F5-B692-22CA28070F40}"/>
              </a:ext>
            </a:extLst>
          </p:cNvPr>
          <p:cNvSpPr>
            <a:spLocks xmlns:a="http://schemas.openxmlformats.org/drawingml/2006/main" noGrp="1"/>
          </p:cNvSpPr>
          <p:nvPr/>
        </p:nvSpPr>
        <p:spPr>
          <a:xfrm xmlns:a="http://schemas.openxmlformats.org/drawingml/2006/main">
            <a:off x="1638300" y="4686300"/>
            <a:ext cx="266700" cy="704850"/>
          </a:xfrm>
          <a:prstGeom xmlns:a="http://schemas.openxmlformats.org/drawingml/2006/main" prst="downArrow">
            <a:avLst/>
          </a:prstGeom>
          <a:solidFill xmlns:a="http://schemas.openxmlformats.org/drawingml/2006/main">
            <a:srgbClr val="B8BC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09E0A56-529B-48B6-9C4D-56A227D30F1F}"/>
              </a:ext>
            </a:extLst>
          </p:cNvPr>
          <p:cNvSpPr>
            <a:spLocks xmlns:a="http://schemas.openxmlformats.org/drawingml/2006/main" noGrp="1"/>
          </p:cNvSpPr>
          <p:nvPr/>
        </p:nvSpPr>
        <p:spPr>
          <a:xfrm xmlns:a="http://schemas.openxmlformats.org/drawingml/2006/main">
            <a:off x="457200" y="1857375"/>
            <a:ext cx="2667000" cy="2590800"/>
          </a:xfrm>
          <a:prstGeom xmlns:a="http://schemas.openxmlformats.org/drawingml/2006/main" prst="roundRect">
            <a:avLst>
              <a:gd name="adj" fmla="val 1838"/>
            </a:avLst>
          </a:prstGeom>
          <a:solidFill xmlns:a="http://schemas.openxmlformats.org/drawingml/2006/main">
            <a:srgbClr val="EEF2EA"/>
          </a:solidFill>
          <a:ln xmlns:a="http://schemas.openxmlformats.org/drawingml/2006/main" w="9525">
            <a:solidFill>
              <a:srgbClr val="9EB299"/>
            </a:solidFill>
            <a:prstDash val="solid"/>
          </a:ln>
        </p:spPr>
      </p:sp>
      <p:sp>
        <p:nvSpPr>
          <p:cNvPr id="11" name="">
            <a:extLst xmlns:a="http://schemas.openxmlformats.org/drawingml/2006/main">
              <a:ext uri="{FF2B5EF4-FFF2-40B4-BE49-F238E27FC236}">
                <a16:creationId xmlns:a16="http://schemas.microsoft.com/office/drawing/2014/main" id="{AEABD191-7361-473D-9815-D1331F510109}"/>
              </a:ext>
            </a:extLst>
          </p:cNvPr>
          <p:cNvSpPr>
            <a:spLocks xmlns:a="http://schemas.openxmlformats.org/drawingml/2006/main" noGrp="1"/>
          </p:cNvSpPr>
          <p:nvPr/>
        </p:nvSpPr>
        <p:spPr>
          <a:xfrm xmlns:a="http://schemas.openxmlformats.org/drawingml/2006/main">
            <a:off x="628650" y="201930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1">
                <a:solidFill>
                  <a:srgbClr val="151515"/>
                </a:solidFill>
                <a:latin typeface="Arial"/>
                <a:ea typeface="Arial"/>
                <a:cs typeface="Arial"/>
              </a:defRPr>
            </a:pPr>
            <a:r>
              <a:rPr sz="1575" b="1">
                <a:solidFill>
                  <a:srgbClr val="151515"/>
                </a:solidFill>
                <a:latin typeface="Arial"/>
                <a:ea typeface="Arial"/>
                <a:cs typeface="Arial"/>
              </a:rPr>
              <a:t>Learner browser</a:t>
            </a:r>
          </a:p>
        </p:txBody>
      </p:sp>
      <p:sp>
        <p:nvSpPr>
          <p:cNvPr id="12" name="">
            <a:extLst xmlns:a="http://schemas.openxmlformats.org/drawingml/2006/main">
              <a:ext uri="{FF2B5EF4-FFF2-40B4-BE49-F238E27FC236}">
                <a16:creationId xmlns:a16="http://schemas.microsoft.com/office/drawing/2014/main" id="{A9FBD65D-B9D1-41D4-89AD-41311CDF8748}"/>
              </a:ext>
            </a:extLst>
          </p:cNvPr>
          <p:cNvSpPr>
            <a:spLocks xmlns:a="http://schemas.openxmlformats.org/drawingml/2006/main" noGrp="1"/>
          </p:cNvSpPr>
          <p:nvPr/>
        </p:nvSpPr>
        <p:spPr>
          <a:xfrm xmlns:a="http://schemas.openxmlformats.org/drawingml/2006/main">
            <a:off x="628650" y="2381250"/>
            <a:ext cx="232410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Next.js / React UI</a:t>
            </a:r>
          </a:p>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Voice or text input</a:t>
            </a:r>
          </a:p>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Avatar, transcript and charts</a:t>
            </a:r>
          </a:p>
        </p:txBody>
      </p:sp>
      <p:sp>
        <p:nvSpPr>
          <p:cNvPr id="13" name="">
            <a:extLst xmlns:a="http://schemas.openxmlformats.org/drawingml/2006/main">
              <a:ext uri="{FF2B5EF4-FFF2-40B4-BE49-F238E27FC236}">
                <a16:creationId xmlns:a16="http://schemas.microsoft.com/office/drawing/2014/main" id="{7FDE97BE-63EE-48E8-8A96-981A5927CF88}"/>
              </a:ext>
            </a:extLst>
          </p:cNvPr>
          <p:cNvSpPr>
            <a:spLocks xmlns:a="http://schemas.openxmlformats.org/drawingml/2006/main" noGrp="1"/>
          </p:cNvSpPr>
          <p:nvPr/>
        </p:nvSpPr>
        <p:spPr>
          <a:xfrm xmlns:a="http://schemas.openxmlformats.org/drawingml/2006/main">
            <a:off x="4114800" y="1857375"/>
            <a:ext cx="3181350" cy="2590800"/>
          </a:xfrm>
          <a:prstGeom xmlns:a="http://schemas.openxmlformats.org/drawingml/2006/main" prst="roundRect">
            <a:avLst>
              <a:gd name="adj" fmla="val 1838"/>
            </a:avLst>
          </a:prstGeom>
          <a:solidFill xmlns:a="http://schemas.openxmlformats.org/drawingml/2006/main">
            <a:srgbClr val="EDEDED"/>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70D1115A-063A-41DA-ABCE-512869787E65}"/>
              </a:ext>
            </a:extLst>
          </p:cNvPr>
          <p:cNvSpPr>
            <a:spLocks xmlns:a="http://schemas.openxmlformats.org/drawingml/2006/main" noGrp="1"/>
          </p:cNvSpPr>
          <p:nvPr/>
        </p:nvSpPr>
        <p:spPr>
          <a:xfrm xmlns:a="http://schemas.openxmlformats.org/drawingml/2006/main">
            <a:off x="4286250" y="201930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75" b="1">
                <a:solidFill>
                  <a:srgbClr val="151515"/>
                </a:solidFill>
                <a:latin typeface="Arial"/>
                <a:ea typeface="Arial"/>
                <a:cs typeface="Arial"/>
              </a:defRPr>
            </a:pPr>
            <a:r>
              <a:rPr sz="1575" b="1">
                <a:solidFill>
                  <a:srgbClr val="151515"/>
                </a:solidFill>
                <a:latin typeface="Arial"/>
                <a:ea typeface="Arial"/>
                <a:cs typeface="Arial"/>
              </a:rPr>
              <a:t>Next.js server routes</a:t>
            </a:r>
          </a:p>
        </p:txBody>
      </p:sp>
      <p:sp>
        <p:nvSpPr>
          <p:cNvPr id="15" name="">
            <a:extLst xmlns:a="http://schemas.openxmlformats.org/drawingml/2006/main">
              <a:ext uri="{FF2B5EF4-FFF2-40B4-BE49-F238E27FC236}">
                <a16:creationId xmlns:a16="http://schemas.microsoft.com/office/drawing/2014/main" id="{A344301F-BD17-4D75-9965-BDCC4DE6AA5C}"/>
              </a:ext>
            </a:extLst>
          </p:cNvPr>
          <p:cNvSpPr>
            <a:spLocks xmlns:a="http://schemas.openxmlformats.org/drawingml/2006/main" noGrp="1"/>
          </p:cNvSpPr>
          <p:nvPr/>
        </p:nvSpPr>
        <p:spPr>
          <a:xfrm xmlns:a="http://schemas.openxmlformats.org/drawingml/2006/main">
            <a:off x="4286250" y="2381250"/>
            <a:ext cx="28384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/api/chat and /api/emotion</a:t>
            </a:r>
          </a:p>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/api/feedback and /api/tts</a:t>
            </a:r>
          </a:p>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/api/tavus/* conversation routes</a:t>
            </a:r>
          </a:p>
          <a:p xmlns:a="http://schemas.openxmlformats.org/drawingml/2006/main">
            <a:pPr algn="l">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Validation + secret handling</a:t>
            </a:r>
          </a:p>
        </p:txBody>
      </p:sp>
      <p:sp>
        <p:nvSpPr>
          <p:cNvPr id="16" name="">
            <a:extLst xmlns:a="http://schemas.openxmlformats.org/drawingml/2006/main">
              <a:ext uri="{FF2B5EF4-FFF2-40B4-BE49-F238E27FC236}">
                <a16:creationId xmlns:a16="http://schemas.microsoft.com/office/drawing/2014/main" id="{43001165-2CBC-4D24-A202-B6552A9B1C54}"/>
              </a:ext>
            </a:extLst>
          </p:cNvPr>
          <p:cNvSpPr>
            <a:spLocks xmlns:a="http://schemas.openxmlformats.org/drawingml/2006/main" noGrp="1"/>
          </p:cNvSpPr>
          <p:nvPr/>
        </p:nvSpPr>
        <p:spPr>
          <a:xfrm xmlns:a="http://schemas.openxmlformats.org/drawingml/2006/main">
            <a:off x="8286750" y="1524000"/>
            <a:ext cx="3448050" cy="990600"/>
          </a:xfrm>
          <a:prstGeom xmlns:a="http://schemas.openxmlformats.org/drawingml/2006/main" prst="roundRect">
            <a:avLst>
              <a:gd name="adj" fmla="val 4808"/>
            </a:avLst>
          </a:prstGeom>
          <a:solidFill xmlns:a="http://schemas.openxmlformats.org/drawingml/2006/main">
            <a:srgbClr val="EEF2EA"/>
          </a:solidFill>
          <a:ln xmlns:a="http://schemas.openxmlformats.org/drawingml/2006/main" w="9525">
            <a:solidFill>
              <a:srgbClr val="9EB299"/>
            </a:solidFill>
            <a:prstDash val="solid"/>
          </a:ln>
        </p:spPr>
      </p:sp>
      <p:sp>
        <p:nvSpPr>
          <p:cNvPr id="17" name="">
            <a:extLst xmlns:a="http://schemas.openxmlformats.org/drawingml/2006/main">
              <a:ext uri="{FF2B5EF4-FFF2-40B4-BE49-F238E27FC236}">
                <a16:creationId xmlns:a16="http://schemas.microsoft.com/office/drawing/2014/main" id="{0F6F2EB1-D0F6-4389-828C-941AFD27A4FE}"/>
              </a:ext>
            </a:extLst>
          </p:cNvPr>
          <p:cNvSpPr>
            <a:spLocks xmlns:a="http://schemas.openxmlformats.org/drawingml/2006/main" noGrp="1"/>
          </p:cNvSpPr>
          <p:nvPr/>
        </p:nvSpPr>
        <p:spPr>
          <a:xfrm xmlns:a="http://schemas.openxmlformats.org/drawingml/2006/main">
            <a:off x="8458200" y="163830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51515"/>
                </a:solidFill>
                <a:latin typeface="Arial"/>
                <a:ea typeface="Arial"/>
                <a:cs typeface="Arial"/>
              </a:defRPr>
            </a:pPr>
            <a:r>
              <a:rPr sz="1500" b="1">
                <a:solidFill>
                  <a:srgbClr val="151515"/>
                </a:solidFill>
                <a:latin typeface="Arial"/>
                <a:ea typeface="Arial"/>
                <a:cs typeface="Arial"/>
              </a:rPr>
              <a:t>Gemini 3.1 Flash Lite</a:t>
            </a:r>
          </a:p>
        </p:txBody>
      </p:sp>
      <p:sp>
        <p:nvSpPr>
          <p:cNvPr id="18" name="">
            <a:extLst xmlns:a="http://schemas.openxmlformats.org/drawingml/2006/main">
              <a:ext uri="{FF2B5EF4-FFF2-40B4-BE49-F238E27FC236}">
                <a16:creationId xmlns:a16="http://schemas.microsoft.com/office/drawing/2014/main" id="{3C4CFD7D-E0F6-493C-A279-617DEA32BD5B}"/>
              </a:ext>
            </a:extLst>
          </p:cNvPr>
          <p:cNvSpPr>
            <a:spLocks xmlns:a="http://schemas.openxmlformats.org/drawingml/2006/main" noGrp="1"/>
          </p:cNvSpPr>
          <p:nvPr/>
        </p:nvSpPr>
        <p:spPr>
          <a:xfrm xmlns:a="http://schemas.openxmlformats.org/drawingml/2006/main">
            <a:off x="8458200" y="194310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Core role-play</a:t>
            </a:r>
          </a:p>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Emotion classification</a:t>
            </a:r>
          </a:p>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Structured formative feedback</a:t>
            </a:r>
          </a:p>
        </p:txBody>
      </p:sp>
      <p:sp>
        <p:nvSpPr>
          <p:cNvPr id="19" name="">
            <a:extLst xmlns:a="http://schemas.openxmlformats.org/drawingml/2006/main">
              <a:ext uri="{FF2B5EF4-FFF2-40B4-BE49-F238E27FC236}">
                <a16:creationId xmlns:a16="http://schemas.microsoft.com/office/drawing/2014/main" id="{6E8678E3-C42A-48B8-83DF-8780C7080261}"/>
              </a:ext>
            </a:extLst>
          </p:cNvPr>
          <p:cNvSpPr>
            <a:spLocks xmlns:a="http://schemas.openxmlformats.org/drawingml/2006/main" noGrp="1"/>
          </p:cNvSpPr>
          <p:nvPr/>
        </p:nvSpPr>
        <p:spPr>
          <a:xfrm xmlns:a="http://schemas.openxmlformats.org/drawingml/2006/main">
            <a:off x="8286750" y="2647950"/>
            <a:ext cx="3448050" cy="990600"/>
          </a:xfrm>
          <a:prstGeom xmlns:a="http://schemas.openxmlformats.org/drawingml/2006/main" prst="roundRect">
            <a:avLst>
              <a:gd name="adj" fmla="val 4808"/>
            </a:avLst>
          </a:prstGeom>
          <a:solidFill xmlns:a="http://schemas.openxmlformats.org/drawingml/2006/main">
            <a:srgbClr val="EAF6FB"/>
          </a:solidFill>
          <a:ln xmlns:a="http://schemas.openxmlformats.org/drawingml/2006/main" w="9525">
            <a:solidFill>
              <a:srgbClr val="6DCBF4"/>
            </a:solidFill>
            <a:prstDash val="solid"/>
          </a:ln>
        </p:spPr>
      </p:sp>
      <p:sp>
        <p:nvSpPr>
          <p:cNvPr id="20" name="">
            <a:extLst xmlns:a="http://schemas.openxmlformats.org/drawingml/2006/main">
              <a:ext uri="{FF2B5EF4-FFF2-40B4-BE49-F238E27FC236}">
                <a16:creationId xmlns:a16="http://schemas.microsoft.com/office/drawing/2014/main" id="{6D48E73D-E81E-4097-AC21-A13FABD26594}"/>
              </a:ext>
            </a:extLst>
          </p:cNvPr>
          <p:cNvSpPr>
            <a:spLocks xmlns:a="http://schemas.openxmlformats.org/drawingml/2006/main" noGrp="1"/>
          </p:cNvSpPr>
          <p:nvPr/>
        </p:nvSpPr>
        <p:spPr>
          <a:xfrm xmlns:a="http://schemas.openxmlformats.org/drawingml/2006/main">
            <a:off x="8458200" y="276225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51515"/>
                </a:solidFill>
                <a:latin typeface="Arial"/>
                <a:ea typeface="Arial"/>
                <a:cs typeface="Arial"/>
              </a:defRPr>
            </a:pPr>
            <a:r>
              <a:rPr sz="1500" b="1">
                <a:solidFill>
                  <a:srgbClr val="151515"/>
                </a:solidFill>
                <a:latin typeface="Arial"/>
                <a:ea typeface="Arial"/>
                <a:cs typeface="Arial"/>
              </a:rPr>
              <a:t>Tavus CVI + Daily WebRTC</a:t>
            </a:r>
          </a:p>
        </p:txBody>
      </p:sp>
      <p:sp>
        <p:nvSpPr>
          <p:cNvPr id="21" name="">
            <a:extLst xmlns:a="http://schemas.openxmlformats.org/drawingml/2006/main">
              <a:ext uri="{FF2B5EF4-FFF2-40B4-BE49-F238E27FC236}">
                <a16:creationId xmlns:a16="http://schemas.microsoft.com/office/drawing/2014/main" id="{0A8A992C-358C-453F-962F-29A04BAAD70C}"/>
              </a:ext>
            </a:extLst>
          </p:cNvPr>
          <p:cNvSpPr>
            <a:spLocks xmlns:a="http://schemas.openxmlformats.org/drawingml/2006/main" noGrp="1"/>
          </p:cNvSpPr>
          <p:nvPr/>
        </p:nvSpPr>
        <p:spPr>
          <a:xfrm xmlns:a="http://schemas.openxmlformats.org/drawingml/2006/main">
            <a:off x="8458200" y="306705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Live spoken video patient</a:t>
            </a:r>
          </a:p>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Room creation, streaming and transcript events</a:t>
            </a:r>
          </a:p>
        </p:txBody>
      </p:sp>
      <p:sp>
        <p:nvSpPr>
          <p:cNvPr id="22" name="">
            <a:extLst xmlns:a="http://schemas.openxmlformats.org/drawingml/2006/main">
              <a:ext uri="{FF2B5EF4-FFF2-40B4-BE49-F238E27FC236}">
                <a16:creationId xmlns:a16="http://schemas.microsoft.com/office/drawing/2014/main" id="{0EBA718B-EE4F-4F0B-829D-5A632CD19EDE}"/>
              </a:ext>
            </a:extLst>
          </p:cNvPr>
          <p:cNvSpPr>
            <a:spLocks xmlns:a="http://schemas.openxmlformats.org/drawingml/2006/main" noGrp="1"/>
          </p:cNvSpPr>
          <p:nvPr/>
        </p:nvSpPr>
        <p:spPr>
          <a:xfrm xmlns:a="http://schemas.openxmlformats.org/drawingml/2006/main">
            <a:off x="8286750" y="3771900"/>
            <a:ext cx="3448050" cy="990600"/>
          </a:xfrm>
          <a:prstGeom xmlns:a="http://schemas.openxmlformats.org/drawingml/2006/main" prst="roundRect">
            <a:avLst>
              <a:gd name="adj" fmla="val 4808"/>
            </a:avLst>
          </a:prstGeom>
          <a:solidFill xmlns:a="http://schemas.openxmlformats.org/drawingml/2006/main">
            <a:srgbClr val="FFF1E3"/>
          </a:solidFill>
          <a:ln xmlns:a="http://schemas.openxmlformats.org/drawingml/2006/main" w="9525">
            <a:solidFill>
              <a:srgbClr val="FAB475"/>
            </a:solidFill>
            <a:prstDash val="solid"/>
          </a:ln>
        </p:spPr>
      </p:sp>
      <p:sp>
        <p:nvSpPr>
          <p:cNvPr id="23" name="">
            <a:extLst xmlns:a="http://schemas.openxmlformats.org/drawingml/2006/main">
              <a:ext uri="{FF2B5EF4-FFF2-40B4-BE49-F238E27FC236}">
                <a16:creationId xmlns:a16="http://schemas.microsoft.com/office/drawing/2014/main" id="{06C376E8-3949-4430-86DE-B12E8D0FE0F9}"/>
              </a:ext>
            </a:extLst>
          </p:cNvPr>
          <p:cNvSpPr>
            <a:spLocks xmlns:a="http://schemas.openxmlformats.org/drawingml/2006/main" noGrp="1"/>
          </p:cNvSpPr>
          <p:nvPr/>
        </p:nvSpPr>
        <p:spPr>
          <a:xfrm xmlns:a="http://schemas.openxmlformats.org/drawingml/2006/main">
            <a:off x="8458200" y="3886200"/>
            <a:ext cx="3105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51515"/>
                </a:solidFill>
                <a:latin typeface="Arial"/>
                <a:ea typeface="Arial"/>
                <a:cs typeface="Arial"/>
              </a:defRPr>
            </a:pPr>
            <a:r>
              <a:rPr sz="1500" b="1">
                <a:solidFill>
                  <a:srgbClr val="151515"/>
                </a:solidFill>
                <a:latin typeface="Arial"/>
                <a:ea typeface="Arial"/>
                <a:cs typeface="Arial"/>
              </a:rPr>
              <a:t>ElevenLabs voice (optional)</a:t>
            </a:r>
          </a:p>
        </p:txBody>
      </p:sp>
      <p:sp>
        <p:nvSpPr>
          <p:cNvPr id="24" name="">
            <a:extLst xmlns:a="http://schemas.openxmlformats.org/drawingml/2006/main">
              <a:ext uri="{FF2B5EF4-FFF2-40B4-BE49-F238E27FC236}">
                <a16:creationId xmlns:a16="http://schemas.microsoft.com/office/drawing/2014/main" id="{90A95340-2B10-481B-BA19-B4CEC93FE0BF}"/>
              </a:ext>
            </a:extLst>
          </p:cNvPr>
          <p:cNvSpPr>
            <a:spLocks xmlns:a="http://schemas.openxmlformats.org/drawingml/2006/main" noGrp="1"/>
          </p:cNvSpPr>
          <p:nvPr/>
        </p:nvSpPr>
        <p:spPr>
          <a:xfrm xmlns:a="http://schemas.openxmlformats.org/drawingml/2006/main">
            <a:off x="8458200" y="4191000"/>
            <a:ext cx="3105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Emotional TTS with per-patient voices</a:t>
            </a:r>
          </a:p>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Browser speech remains the fallback</a:t>
            </a:r>
          </a:p>
        </p:txBody>
      </p:sp>
      <p:sp>
        <p:nvSpPr>
          <p:cNvPr id="25" name="">
            <a:extLst xmlns:a="http://schemas.openxmlformats.org/drawingml/2006/main">
              <a:ext uri="{FF2B5EF4-FFF2-40B4-BE49-F238E27FC236}">
                <a16:creationId xmlns:a16="http://schemas.microsoft.com/office/drawing/2014/main" id="{40CA8227-69A2-48BA-AFC2-EBD23B0E6DB6}"/>
              </a:ext>
            </a:extLst>
          </p:cNvPr>
          <p:cNvSpPr>
            <a:spLocks xmlns:a="http://schemas.openxmlformats.org/drawingml/2006/main" noGrp="1"/>
          </p:cNvSpPr>
          <p:nvPr/>
        </p:nvSpPr>
        <p:spPr>
          <a:xfrm xmlns:a="http://schemas.openxmlformats.org/drawingml/2006/main">
            <a:off x="457200" y="5295900"/>
            <a:ext cx="2667000" cy="876300"/>
          </a:xfrm>
          <a:prstGeom xmlns:a="http://schemas.openxmlformats.org/drawingml/2006/main" prst="roundRect">
            <a:avLst>
              <a:gd name="adj" fmla="val 5435"/>
            </a:avLst>
          </a:prstGeom>
          <a:solidFill xmlns:a="http://schemas.openxmlformats.org/drawingml/2006/main">
            <a:srgbClr val="FFFFFF"/>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515D8AF2-64B2-4AD8-B9CE-EAABB52E14B2}"/>
              </a:ext>
            </a:extLst>
          </p:cNvPr>
          <p:cNvSpPr>
            <a:spLocks xmlns:a="http://schemas.openxmlformats.org/drawingml/2006/main" noGrp="1"/>
          </p:cNvSpPr>
          <p:nvPr/>
        </p:nvSpPr>
        <p:spPr>
          <a:xfrm xmlns:a="http://schemas.openxmlformats.org/drawingml/2006/main">
            <a:off x="628650" y="5410200"/>
            <a:ext cx="2324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51515"/>
                </a:solidFill>
                <a:latin typeface="Arial"/>
                <a:ea typeface="Arial"/>
                <a:cs typeface="Arial"/>
              </a:defRPr>
            </a:pPr>
            <a:r>
              <a:rPr sz="1500" b="1">
                <a:solidFill>
                  <a:srgbClr val="151515"/>
                </a:solidFill>
                <a:latin typeface="Arial"/>
                <a:ea typeface="Arial"/>
                <a:cs typeface="Arial"/>
              </a:rPr>
              <a:t>Browser session storage</a:t>
            </a:r>
          </a:p>
        </p:txBody>
      </p:sp>
      <p:sp>
        <p:nvSpPr>
          <p:cNvPr id="27" name="">
            <a:extLst xmlns:a="http://schemas.openxmlformats.org/drawingml/2006/main">
              <a:ext uri="{FF2B5EF4-FFF2-40B4-BE49-F238E27FC236}">
                <a16:creationId xmlns:a16="http://schemas.microsoft.com/office/drawing/2014/main" id="{7F7419F2-8743-43A9-A4C1-7ADBD07BAF3E}"/>
              </a:ext>
            </a:extLst>
          </p:cNvPr>
          <p:cNvSpPr>
            <a:spLocks xmlns:a="http://schemas.openxmlformats.org/drawingml/2006/main" noGrp="1"/>
          </p:cNvSpPr>
          <p:nvPr/>
        </p:nvSpPr>
        <p:spPr>
          <a:xfrm xmlns:a="http://schemas.openxmlformats.org/drawingml/2006/main">
            <a:off x="628650" y="571500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Current attempt and retry comparison</a:t>
            </a:r>
          </a:p>
          <a:p xmlns:a="http://schemas.openxmlformats.org/drawingml/2006/main">
            <a:pPr algn="l">
              <a:lnSpc>
                <a:spcPct val="104000"/>
              </a:lnSpc>
              <a:buNone/>
              <a:defRPr sz="975" b="0">
                <a:solidFill>
                  <a:srgbClr val="5F625F"/>
                </a:solidFill>
                <a:latin typeface="Arial"/>
                <a:ea typeface="Arial"/>
                <a:cs typeface="Arial"/>
              </a:defRPr>
            </a:pPr>
            <a:r>
              <a:rPr sz="975" b="0">
                <a:solidFill>
                  <a:srgbClr val="5F625F"/>
                </a:solidFill>
                <a:latin typeface="Arial"/>
                <a:ea typeface="Arial"/>
                <a:cs typeface="Arial"/>
              </a:rPr>
              <a:t>No persistent database or account</a:t>
            </a:r>
          </a:p>
        </p:txBody>
      </p:sp>
      <p:sp>
        <p:nvSpPr>
          <p:cNvPr id="28" name="">
            <a:extLst xmlns:a="http://schemas.openxmlformats.org/drawingml/2006/main">
              <a:ext uri="{FF2B5EF4-FFF2-40B4-BE49-F238E27FC236}">
                <a16:creationId xmlns:a16="http://schemas.microsoft.com/office/drawing/2014/main" id="{F7377A97-779C-4033-8EED-10ECC7E716AD}"/>
              </a:ext>
            </a:extLst>
          </p:cNvPr>
          <p:cNvSpPr>
            <a:spLocks xmlns:a="http://schemas.openxmlformats.org/drawingml/2006/main" noGrp="1"/>
          </p:cNvSpPr>
          <p:nvPr/>
        </p:nvSpPr>
        <p:spPr>
          <a:xfrm xmlns:a="http://schemas.openxmlformats.org/drawingml/2006/main">
            <a:off x="4324350" y="4772025"/>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1">
                <a:solidFill>
                  <a:srgbClr val="526650"/>
                </a:solidFill>
                <a:latin typeface="Arial"/>
                <a:ea typeface="Arial"/>
                <a:cs typeface="Arial"/>
              </a:defRPr>
            </a:pPr>
            <a:r>
              <a:rPr sz="1275" b="1">
                <a:solidFill>
                  <a:srgbClr val="526650"/>
                </a:solidFill>
                <a:latin typeface="Arial"/>
                <a:ea typeface="Arial"/>
                <a:cs typeface="Arial"/>
              </a:rPr>
              <a:t>Server-side keys and hidden prompts</a:t>
            </a:r>
          </a:p>
        </p:txBody>
      </p:sp>
      <p:sp>
        <p:nvSpPr>
          <p:cNvPr id="29" name="">
            <a:extLst xmlns:a="http://schemas.openxmlformats.org/drawingml/2006/main">
              <a:ext uri="{FF2B5EF4-FFF2-40B4-BE49-F238E27FC236}">
                <a16:creationId xmlns:a16="http://schemas.microsoft.com/office/drawing/2014/main" id="{C5CBAE09-1E8D-4A25-9A45-D628B98A3800}"/>
              </a:ext>
            </a:extLst>
          </p:cNvPr>
          <p:cNvSpPr>
            <a:spLocks xmlns:a="http://schemas.openxmlformats.org/drawingml/2006/main" noGrp="1"/>
          </p:cNvSpPr>
          <p:nvPr/>
        </p:nvSpPr>
        <p:spPr>
          <a:xfrm xmlns:a="http://schemas.openxmlformats.org/drawingml/2006/main">
            <a:off x="8001000" y="4991100"/>
            <a:ext cx="3733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4000"/>
              </a:lnSpc>
              <a:buNone/>
              <a:defRPr sz="1200" b="0">
                <a:solidFill>
                  <a:srgbClr val="5F625F"/>
                </a:solidFill>
                <a:latin typeface="Arial"/>
                <a:ea typeface="Arial"/>
                <a:cs typeface="Arial"/>
              </a:defRPr>
            </a:pPr>
            <a:r>
              <a:rPr sz="1200" b="0">
                <a:solidFill>
                  <a:srgbClr val="5F625F"/>
                </a:solidFill>
                <a:latin typeface="Arial"/>
                <a:ea typeface="Arial"/>
                <a:cs typeface="Arial"/>
              </a:rPr>
              <a:t>Tavus returns a room URL; Daily joins the WebRTC call in the browser.</a:t>
            </a:r>
          </a:p>
        </p:txBody>
      </p:sp>
      <p:sp>
        <p:nvSpPr>
          <p:cNvPr id="30" name="">
            <a:extLst xmlns:a="http://schemas.openxmlformats.org/drawingml/2006/main">
              <a:ext uri="{FF2B5EF4-FFF2-40B4-BE49-F238E27FC236}">
                <a16:creationId xmlns:a16="http://schemas.microsoft.com/office/drawing/2014/main" id="{29EECF50-A76B-4EF0-BB06-958EE56DA991}"/>
              </a:ext>
            </a:extLst>
          </p:cNvPr>
          <p:cNvSpPr>
            <a:spLocks xmlns:a="http://schemas.openxmlformats.org/drawingml/2006/main" noGrp="1"/>
          </p:cNvSpPr>
          <p:nvPr/>
        </p:nvSpPr>
        <p:spPr>
          <a:xfrm xmlns:a="http://schemas.openxmlformats.org/drawingml/2006/main">
            <a:off x="4114800" y="5438775"/>
            <a:ext cx="3181350" cy="733425"/>
          </a:xfrm>
          <a:prstGeom xmlns:a="http://schemas.openxmlformats.org/drawingml/2006/main" prst="rect">
            <a:avLst/>
          </a:prstGeom>
          <a:solidFill xmlns:a="http://schemas.openxmlformats.org/drawingml/2006/main">
            <a:srgbClr val="1E2A2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D39C472-3414-472C-A5E6-61EE35F737FB}"/>
              </a:ext>
            </a:extLst>
          </p:cNvPr>
          <p:cNvSpPr>
            <a:spLocks xmlns:a="http://schemas.openxmlformats.org/drawingml/2006/main" noGrp="1"/>
          </p:cNvSpPr>
          <p:nvPr/>
        </p:nvSpPr>
        <p:spPr>
          <a:xfrm xmlns:a="http://schemas.openxmlformats.org/drawingml/2006/main">
            <a:off x="4305300" y="5610225"/>
            <a:ext cx="2800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297"/>
          </a:bodyPr>
          <a:lstStyle xmlns:a="http://schemas.openxmlformats.org/drawingml/2006/main"/>
          <a:p xmlns:a="http://schemas.openxmlformats.org/drawingml/2006/main">
            <a:pPr algn="ctr">
              <a:lnSpc>
                <a:spcPct val="104000"/>
              </a:lnSpc>
              <a:buNone/>
              <a:defRPr sz="1425" b="1">
                <a:solidFill>
                  <a:srgbClr val="FFFFFF"/>
                </a:solidFill>
                <a:latin typeface="Arial"/>
                <a:ea typeface="Arial"/>
                <a:cs typeface="Arial"/>
              </a:defRPr>
            </a:pPr>
            <a:r>
              <a:rPr sz="1425" b="1">
                <a:solidFill>
                  <a:srgbClr val="FFFFFF"/>
                </a:solidFill>
                <a:latin typeface="Arial"/>
                <a:ea typeface="Arial"/>
                <a:cs typeface="Arial"/>
              </a:rPr>
              <a:t>Core demo needs Gemini. Tavus and voice enhancements are optional.</a:t>
            </a:r>
          </a:p>
        </p:txBody>
      </p:sp>
    </p:spTree>
    <p:extLst>
      <p:ext uri="{BB962C8B-B14F-4D97-AF65-F5344CB8AC3E}">
        <p14:creationId xmlns:p14="http://schemas.microsoft.com/office/powerpoint/2010/main" val="16214117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85F1819-1539-42A0-9E7A-0A03E1449F19}"/>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C86F62E5-8ED1-49A9-964E-A6D2AAD01F8C}"/>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7F0B4FCE-5298-434D-90E2-3F88D4F7130A}"/>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94CB87-20DF-4E7E-A286-5CC60C25A3D2}"/>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Feedback points to the learner's exact words</a:t>
            </a:r>
          </a:p>
        </p:txBody>
      </p:sp>
      <p:sp>
        <p:nvSpPr>
          <p:cNvPr id="5" name="">
            <a:extLst xmlns:a="http://schemas.openxmlformats.org/drawingml/2006/main">
              <a:ext uri="{FF2B5EF4-FFF2-40B4-BE49-F238E27FC236}">
                <a16:creationId xmlns:a16="http://schemas.microsoft.com/office/drawing/2014/main" id="{D7AAD355-300A-4072-98DB-410939B3EBB4}"/>
              </a:ext>
            </a:extLst>
          </p:cNvPr>
          <p:cNvSpPr>
            <a:spLocks xmlns:a="http://schemas.openxmlformats.org/drawingml/2006/main" noGrp="1"/>
          </p:cNvSpPr>
          <p:nvPr/>
        </p:nvSpPr>
        <p:spPr>
          <a:xfrm xmlns:a="http://schemas.openxmlformats.org/drawingml/2006/main">
            <a:off x="400050" y="1600200"/>
            <a:ext cx="6972300" cy="3971925"/>
          </a:xfrm>
          <a:prstGeom xmlns:a="http://schemas.openxmlformats.org/drawingml/2006/main" prst="roundRect">
            <a:avLst>
              <a:gd name="adj" fmla="val 1679"/>
            </a:avLst>
          </a:prstGeom>
          <a:solidFill xmlns:a="http://schemas.openxmlformats.org/drawingml/2006/main">
            <a:srgbClr val="FFFFFF"/>
          </a:solidFill>
          <a:ln xmlns:a="http://schemas.openxmlformats.org/drawingml/2006/main" w="9525">
            <a:solidFill>
              <a:srgbClr val="B8BCC4"/>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29d2b48fa854ff0"/>
          <a:srcRect xmlns:a="http://schemas.openxmlformats.org/drawingml/2006/main" l="0" t="17" r="0" b="17"/>
          <a:stretch xmlns:a="http://schemas.openxmlformats.org/drawingml/2006/main">
            <a:fillRect l="0" t="0" r="0" b="0"/>
          </a:stretch>
        </p:blipFill>
        <p:spPr>
          <a:xfrm xmlns:a="http://schemas.openxmlformats.org/drawingml/2006/main">
            <a:off x="457200" y="1657350"/>
            <a:ext cx="6858000" cy="3857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11A4478-B343-4172-B2B3-3B4B1AAE1607}"/>
              </a:ext>
            </a:extLst>
          </p:cNvPr>
          <p:cNvSpPr>
            <a:spLocks xmlns:a="http://schemas.openxmlformats.org/drawingml/2006/main" noGrp="1"/>
          </p:cNvSpPr>
          <p:nvPr/>
        </p:nvSpPr>
        <p:spPr>
          <a:xfrm xmlns:a="http://schemas.openxmlformats.org/drawingml/2006/main">
            <a:off x="7810500" y="1809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9EB299"/>
                </a:solidFill>
                <a:latin typeface="Arial"/>
                <a:ea typeface="Arial"/>
                <a:cs typeface="Arial"/>
              </a:defRPr>
            </a:pPr>
            <a:r>
              <a:rPr sz="1650" b="1">
                <a:solidFill>
                  <a:srgbClr val="9EB299"/>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A4EB4F48-83BB-4B82-A07D-F2876B97FDD2}"/>
              </a:ext>
            </a:extLst>
          </p:cNvPr>
          <p:cNvSpPr>
            <a:spLocks xmlns:a="http://schemas.openxmlformats.org/drawingml/2006/main" noGrp="1"/>
          </p:cNvSpPr>
          <p:nvPr/>
        </p:nvSpPr>
        <p:spPr>
          <a:xfrm xmlns:a="http://schemas.openxmlformats.org/drawingml/2006/main">
            <a:off x="8420100" y="1809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Evidence-linked</a:t>
            </a:r>
          </a:p>
        </p:txBody>
      </p:sp>
      <p:sp>
        <p:nvSpPr>
          <p:cNvPr id="9" name="">
            <a:extLst xmlns:a="http://schemas.openxmlformats.org/drawingml/2006/main">
              <a:ext uri="{FF2B5EF4-FFF2-40B4-BE49-F238E27FC236}">
                <a16:creationId xmlns:a16="http://schemas.microsoft.com/office/drawing/2014/main" id="{0C96CEF3-C09E-49F3-9D48-339A79B6D339}"/>
              </a:ext>
            </a:extLst>
          </p:cNvPr>
          <p:cNvSpPr>
            <a:spLocks xmlns:a="http://schemas.openxmlformats.org/drawingml/2006/main" noGrp="1"/>
          </p:cNvSpPr>
          <p:nvPr/>
        </p:nvSpPr>
        <p:spPr>
          <a:xfrm xmlns:a="http://schemas.openxmlformats.org/drawingml/2006/main">
            <a:off x="8420100" y="2171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Strengths and improvements cite the learner's numbered turn.</a:t>
            </a:r>
          </a:p>
        </p:txBody>
      </p:sp>
      <p:sp>
        <p:nvSpPr>
          <p:cNvPr id="10" name="">
            <a:extLst xmlns:a="http://schemas.openxmlformats.org/drawingml/2006/main">
              <a:ext uri="{FF2B5EF4-FFF2-40B4-BE49-F238E27FC236}">
                <a16:creationId xmlns:a16="http://schemas.microsoft.com/office/drawing/2014/main" id="{2C62F0E8-36F9-4E1A-889F-FA1490DFCC57}"/>
              </a:ext>
            </a:extLst>
          </p:cNvPr>
          <p:cNvSpPr>
            <a:spLocks xmlns:a="http://schemas.openxmlformats.org/drawingml/2006/main" noGrp="1"/>
          </p:cNvSpPr>
          <p:nvPr/>
        </p:nvSpPr>
        <p:spPr>
          <a:xfrm xmlns:a="http://schemas.openxmlformats.org/drawingml/2006/main">
            <a:off x="7810500" y="2952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6DCBF4"/>
                </a:solidFill>
                <a:latin typeface="Arial"/>
                <a:ea typeface="Arial"/>
                <a:cs typeface="Arial"/>
              </a:defRPr>
            </a:pPr>
            <a:r>
              <a:rPr sz="1650" b="1">
                <a:solidFill>
                  <a:srgbClr val="6DCBF4"/>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B572F4B-3A6A-4E19-8A3D-4086203B1657}"/>
              </a:ext>
            </a:extLst>
          </p:cNvPr>
          <p:cNvSpPr>
            <a:spLocks xmlns:a="http://schemas.openxmlformats.org/drawingml/2006/main" noGrp="1"/>
          </p:cNvSpPr>
          <p:nvPr/>
        </p:nvSpPr>
        <p:spPr>
          <a:xfrm xmlns:a="http://schemas.openxmlformats.org/drawingml/2006/main">
            <a:off x="8420100" y="2952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Retry-oriented</a:t>
            </a:r>
          </a:p>
        </p:txBody>
      </p:sp>
      <p:sp>
        <p:nvSpPr>
          <p:cNvPr id="12" name="">
            <a:extLst xmlns:a="http://schemas.openxmlformats.org/drawingml/2006/main">
              <a:ext uri="{FF2B5EF4-FFF2-40B4-BE49-F238E27FC236}">
                <a16:creationId xmlns:a16="http://schemas.microsoft.com/office/drawing/2014/main" id="{76791DD7-8F81-4857-B406-943CB00B8C85}"/>
              </a:ext>
            </a:extLst>
          </p:cNvPr>
          <p:cNvSpPr>
            <a:spLocks xmlns:a="http://schemas.openxmlformats.org/drawingml/2006/main" noGrp="1"/>
          </p:cNvSpPr>
          <p:nvPr/>
        </p:nvSpPr>
        <p:spPr>
          <a:xfrm xmlns:a="http://schemas.openxmlformats.org/drawingml/2006/main">
            <a:off x="8420100" y="3314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The review converts critique into specific steps for the next attempt.</a:t>
            </a:r>
          </a:p>
        </p:txBody>
      </p:sp>
      <p:sp>
        <p:nvSpPr>
          <p:cNvPr id="13" name="">
            <a:extLst xmlns:a="http://schemas.openxmlformats.org/drawingml/2006/main">
              <a:ext uri="{FF2B5EF4-FFF2-40B4-BE49-F238E27FC236}">
                <a16:creationId xmlns:a16="http://schemas.microsoft.com/office/drawing/2014/main" id="{A4040905-438E-4092-B9E1-A63C92673996}"/>
              </a:ext>
            </a:extLst>
          </p:cNvPr>
          <p:cNvSpPr>
            <a:spLocks xmlns:a="http://schemas.openxmlformats.org/drawingml/2006/main" noGrp="1"/>
          </p:cNvSpPr>
          <p:nvPr/>
        </p:nvSpPr>
        <p:spPr>
          <a:xfrm xmlns:a="http://schemas.openxmlformats.org/drawingml/2006/main">
            <a:off x="7810500" y="4095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FAB475"/>
                </a:solidFill>
                <a:latin typeface="Arial"/>
                <a:ea typeface="Arial"/>
                <a:cs typeface="Arial"/>
              </a:defRPr>
            </a:pPr>
            <a:r>
              <a:rPr sz="1650" b="1">
                <a:solidFill>
                  <a:srgbClr val="FAB475"/>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9CAE530D-2917-4B6B-A12C-652D45FFAE75}"/>
              </a:ext>
            </a:extLst>
          </p:cNvPr>
          <p:cNvSpPr>
            <a:spLocks xmlns:a="http://schemas.openxmlformats.org/drawingml/2006/main" noGrp="1"/>
          </p:cNvSpPr>
          <p:nvPr/>
        </p:nvSpPr>
        <p:spPr>
          <a:xfrm xmlns:a="http://schemas.openxmlformats.org/drawingml/2006/main">
            <a:off x="8420100" y="4095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51515"/>
                </a:solidFill>
                <a:latin typeface="Arial"/>
                <a:ea typeface="Arial"/>
                <a:cs typeface="Arial"/>
              </a:defRPr>
            </a:pPr>
            <a:r>
              <a:rPr sz="1650" b="1">
                <a:solidFill>
                  <a:srgbClr val="151515"/>
                </a:solidFill>
                <a:latin typeface="Arial"/>
                <a:ea typeface="Arial"/>
                <a:cs typeface="Arial"/>
              </a:rPr>
              <a:t>Honest limits</a:t>
            </a:r>
          </a:p>
        </p:txBody>
      </p:sp>
      <p:sp>
        <p:nvSpPr>
          <p:cNvPr id="15" name="">
            <a:extLst xmlns:a="http://schemas.openxmlformats.org/drawingml/2006/main">
              <a:ext uri="{FF2B5EF4-FFF2-40B4-BE49-F238E27FC236}">
                <a16:creationId xmlns:a16="http://schemas.microsoft.com/office/drawing/2014/main" id="{E9B1409F-1240-45AF-8BD5-191257B61B7B}"/>
              </a:ext>
            </a:extLst>
          </p:cNvPr>
          <p:cNvSpPr>
            <a:spLocks xmlns:a="http://schemas.openxmlformats.org/drawingml/2006/main" noGrp="1"/>
          </p:cNvSpPr>
          <p:nvPr/>
        </p:nvSpPr>
        <p:spPr>
          <a:xfrm xmlns:a="http://schemas.openxmlformats.org/drawingml/2006/main">
            <a:off x="8420100" y="445770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097"/>
          </a:bodyPr>
          <a:lstStyle xmlns:a="http://schemas.openxmlformats.org/drawingml/2006/main"/>
          <a:p xmlns:a="http://schemas.openxmlformats.org/drawingml/2006/main">
            <a:pPr algn="l">
              <a:lnSpc>
                <a:spcPct val="110000"/>
              </a:lnSpc>
              <a:buNone/>
              <a:defRPr sz="1275" b="0">
                <a:solidFill>
                  <a:srgbClr val="5F625F"/>
                </a:solidFill>
                <a:latin typeface="Arial"/>
                <a:ea typeface="Arial"/>
                <a:cs typeface="Arial"/>
              </a:defRPr>
            </a:pPr>
            <a:r>
              <a:rPr sz="1275" b="0">
                <a:solidFill>
                  <a:srgbClr val="5F625F"/>
                </a:solidFill>
                <a:latin typeface="Arial"/>
                <a:ea typeface="Arial"/>
                <a:cs typeface="Arial"/>
              </a:rPr>
              <a:t>Confidence and limitations remain visible; one simulation cannot establish competence.</a:t>
            </a:r>
          </a:p>
        </p:txBody>
      </p:sp>
      <p:sp>
        <p:nvSpPr>
          <p:cNvPr id="16" name="">
            <a:extLst xmlns:a="http://schemas.openxmlformats.org/drawingml/2006/main">
              <a:ext uri="{FF2B5EF4-FFF2-40B4-BE49-F238E27FC236}">
                <a16:creationId xmlns:a16="http://schemas.microsoft.com/office/drawing/2014/main" id="{1E48032B-5C6B-4D86-B580-22140EEFEE15}"/>
              </a:ext>
            </a:extLst>
          </p:cNvPr>
          <p:cNvSpPr>
            <a:spLocks xmlns:a="http://schemas.openxmlformats.org/drawingml/2006/main" noGrp="1"/>
          </p:cNvSpPr>
          <p:nvPr/>
        </p:nvSpPr>
        <p:spPr>
          <a:xfrm xmlns:a="http://schemas.openxmlformats.org/drawingml/2006/main">
            <a:off x="457200" y="5848350"/>
            <a:ext cx="10820400" cy="504825"/>
          </a:xfrm>
          <a:prstGeom xmlns:a="http://schemas.openxmlformats.org/drawingml/2006/main" prst="rect">
            <a:avLst/>
          </a:prstGeom>
          <a:solidFill xmlns:a="http://schemas.openxmlformats.org/drawingml/2006/main">
            <a:srgbClr val="FDEAE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41B9D78-B01C-4F25-84BD-9485EAA61CF8}"/>
              </a:ext>
            </a:extLst>
          </p:cNvPr>
          <p:cNvSpPr>
            <a:spLocks xmlns:a="http://schemas.openxmlformats.org/drawingml/2006/main" noGrp="1"/>
          </p:cNvSpPr>
          <p:nvPr/>
        </p:nvSpPr>
        <p:spPr>
          <a:xfrm xmlns:a="http://schemas.openxmlformats.org/drawingml/2006/main">
            <a:off x="619125" y="6000750"/>
            <a:ext cx="1049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1">
                <a:solidFill>
                  <a:srgbClr val="7F4141"/>
                </a:solidFill>
                <a:latin typeface="Arial"/>
                <a:ea typeface="Arial"/>
                <a:cs typeface="Arial"/>
              </a:defRPr>
            </a:pPr>
            <a:r>
              <a:rPr sz="1275" b="1">
                <a:solidFill>
                  <a:srgbClr val="7F4141"/>
                </a:solidFill>
                <a:latin typeface="Arial"/>
                <a:ea typeface="Arial"/>
                <a:cs typeface="Arial"/>
              </a:rPr>
              <a:t>Formative only  |  fictional data  |  server-side keys and prompts  |  no clinical advice or competence certification</a:t>
            </a:r>
          </a:p>
        </p:txBody>
      </p:sp>
    </p:spTree>
    <p:extLst>
      <p:ext uri="{BB962C8B-B14F-4D97-AF65-F5344CB8AC3E}">
        <p14:creationId xmlns:p14="http://schemas.microsoft.com/office/powerpoint/2010/main" val="919934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AC1165E-C303-4B39-8A76-E690D69F1EF0}"/>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a:t>
            </a:r>
          </a:p>
        </p:txBody>
      </p:sp>
      <p:sp>
        <p:nvSpPr>
          <p:cNvPr id="2" name="">
            <a:extLst xmlns:a="http://schemas.openxmlformats.org/drawingml/2006/main">
              <a:ext uri="{FF2B5EF4-FFF2-40B4-BE49-F238E27FC236}">
                <a16:creationId xmlns:a16="http://schemas.microsoft.com/office/drawing/2014/main" id="{0A69479A-F39B-4A56-BC90-51815E832C40}"/>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07D8CB68-9505-4990-8826-0BAE2D26F918}"/>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33F8BCB-6BFC-4513-B699-1423F13A366F}"/>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The next milestone is validation - not more features</a:t>
            </a:r>
          </a:p>
        </p:txBody>
      </p:sp>
      <p:sp>
        <p:nvSpPr>
          <p:cNvPr id="5" name="">
            <a:extLst xmlns:a="http://schemas.openxmlformats.org/drawingml/2006/main">
              <a:ext uri="{FF2B5EF4-FFF2-40B4-BE49-F238E27FC236}">
                <a16:creationId xmlns:a16="http://schemas.microsoft.com/office/drawing/2014/main" id="{EE46E721-27F2-4735-BE16-F9B761D9F7D2}"/>
              </a:ext>
            </a:extLst>
          </p:cNvPr>
          <p:cNvSpPr>
            <a:spLocks xmlns:a="http://schemas.openxmlformats.org/drawingml/2006/main" noGrp="1"/>
          </p:cNvSpPr>
          <p:nvPr/>
        </p:nvSpPr>
        <p:spPr>
          <a:xfrm xmlns:a="http://schemas.openxmlformats.org/drawingml/2006/main">
            <a:off x="457200" y="15240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lnSpc>
                <a:spcPct val="108000"/>
              </a:lnSpc>
              <a:buNone/>
              <a:defRPr sz="1875" b="1">
                <a:solidFill>
                  <a:srgbClr val="151515"/>
                </a:solidFill>
                <a:latin typeface="Arial"/>
                <a:ea typeface="Arial"/>
                <a:cs typeface="Arial"/>
              </a:defRPr>
            </a:pPr>
            <a:r>
              <a:rPr sz="1875" b="1">
                <a:solidFill>
                  <a:srgbClr val="151515"/>
                </a:solidFill>
                <a:latin typeface="Arial"/>
                <a:ea typeface="Arial"/>
                <a:cs typeface="Arial"/>
              </a:rPr>
              <a:t>The prototype is strong enough to test the educational question: does the feedback help the learner make a better next attempt?</a:t>
            </a:r>
          </a:p>
        </p:txBody>
      </p:sp>
      <p:sp>
        <p:nvSpPr>
          <p:cNvPr id="6" name="">
            <a:extLst xmlns:a="http://schemas.openxmlformats.org/drawingml/2006/main">
              <a:ext uri="{FF2B5EF4-FFF2-40B4-BE49-F238E27FC236}">
                <a16:creationId xmlns:a16="http://schemas.microsoft.com/office/drawing/2014/main" id="{AD49FF47-AAD6-4142-8715-77E8575BD61E}"/>
              </a:ext>
            </a:extLst>
          </p:cNvPr>
          <p:cNvSpPr>
            <a:spLocks xmlns:a="http://schemas.openxmlformats.org/drawingml/2006/main" noGrp="1"/>
          </p:cNvSpPr>
          <p:nvPr/>
        </p:nvSpPr>
        <p:spPr>
          <a:xfrm xmlns:a="http://schemas.openxmlformats.org/drawingml/2006/main">
            <a:off x="457200" y="2476500"/>
            <a:ext cx="5219700" cy="2381250"/>
          </a:xfrm>
          <a:prstGeom xmlns:a="http://schemas.openxmlformats.org/drawingml/2006/main" prst="rect">
            <a:avLst/>
          </a:prstGeom>
          <a:solidFill xmlns:a="http://schemas.openxmlformats.org/drawingml/2006/main">
            <a:srgbClr val="EEF2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08CAEE0-796C-44C4-A32D-167239C79251}"/>
              </a:ext>
            </a:extLst>
          </p:cNvPr>
          <p:cNvSpPr>
            <a:spLocks xmlns:a="http://schemas.openxmlformats.org/drawingml/2006/main" noGrp="1"/>
          </p:cNvSpPr>
          <p:nvPr/>
        </p:nvSpPr>
        <p:spPr>
          <a:xfrm xmlns:a="http://schemas.openxmlformats.org/drawingml/2006/main">
            <a:off x="685800" y="27051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26650"/>
                </a:solidFill>
                <a:latin typeface="Arial"/>
                <a:ea typeface="Arial"/>
                <a:cs typeface="Arial"/>
              </a:defRPr>
            </a:pPr>
            <a:r>
              <a:rPr sz="1125" b="1">
                <a:solidFill>
                  <a:srgbClr val="526650"/>
                </a:solidFill>
                <a:latin typeface="Arial"/>
                <a:ea typeface="Arial"/>
                <a:cs typeface="Arial"/>
              </a:rPr>
              <a:t>PROVED IN THE PROTOTYPE</a:t>
            </a:r>
          </a:p>
        </p:txBody>
      </p:sp>
      <p:sp>
        <p:nvSpPr>
          <p:cNvPr id="8" name="">
            <a:extLst xmlns:a="http://schemas.openxmlformats.org/drawingml/2006/main">
              <a:ext uri="{FF2B5EF4-FFF2-40B4-BE49-F238E27FC236}">
                <a16:creationId xmlns:a16="http://schemas.microsoft.com/office/drawing/2014/main" id="{07A9DD56-F87B-4E23-90C5-34FBA6E303FC}"/>
              </a:ext>
            </a:extLst>
          </p:cNvPr>
          <p:cNvSpPr>
            <a:spLocks xmlns:a="http://schemas.openxmlformats.org/drawingml/2006/main" noGrp="1"/>
          </p:cNvSpPr>
          <p:nvPr/>
        </p:nvSpPr>
        <p:spPr>
          <a:xfrm xmlns:a="http://schemas.openxmlformats.org/drawingml/2006/main">
            <a:off x="685800" y="31432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Working end-to-end learner journey</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Four difficult-conversation scenarios</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Voice, text and multi-avatar delivery</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Evidence-linked feedback and retry</a:t>
            </a:r>
          </a:p>
        </p:txBody>
      </p:sp>
      <p:sp>
        <p:nvSpPr>
          <p:cNvPr id="9" name="">
            <a:extLst xmlns:a="http://schemas.openxmlformats.org/drawingml/2006/main">
              <a:ext uri="{FF2B5EF4-FFF2-40B4-BE49-F238E27FC236}">
                <a16:creationId xmlns:a16="http://schemas.microsoft.com/office/drawing/2014/main" id="{7A210397-2341-4B5B-820D-8F35BEE9B89B}"/>
              </a:ext>
            </a:extLst>
          </p:cNvPr>
          <p:cNvSpPr>
            <a:spLocks xmlns:a="http://schemas.openxmlformats.org/drawingml/2006/main" noGrp="1"/>
          </p:cNvSpPr>
          <p:nvPr/>
        </p:nvSpPr>
        <p:spPr>
          <a:xfrm xmlns:a="http://schemas.openxmlformats.org/drawingml/2006/main">
            <a:off x="6057900" y="2476500"/>
            <a:ext cx="5219700" cy="2381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0BC9F2-D328-4C57-93C3-A6A31E53B3CE}"/>
              </a:ext>
            </a:extLst>
          </p:cNvPr>
          <p:cNvSpPr>
            <a:spLocks xmlns:a="http://schemas.openxmlformats.org/drawingml/2006/main" noGrp="1"/>
          </p:cNvSpPr>
          <p:nvPr/>
        </p:nvSpPr>
        <p:spPr>
          <a:xfrm xmlns:a="http://schemas.openxmlformats.org/drawingml/2006/main">
            <a:off x="6286500" y="27051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26650"/>
                </a:solidFill>
                <a:latin typeface="Arial"/>
                <a:ea typeface="Arial"/>
                <a:cs typeface="Arial"/>
              </a:defRPr>
            </a:pPr>
            <a:r>
              <a:rPr sz="1125" b="1">
                <a:solidFill>
                  <a:srgbClr val="526650"/>
                </a:solidFill>
                <a:latin typeface="Arial"/>
                <a:ea typeface="Arial"/>
                <a:cs typeface="Arial"/>
              </a:rPr>
              <a:t>VALIDATE NEXT</a:t>
            </a:r>
          </a:p>
        </p:txBody>
      </p:sp>
      <p:sp>
        <p:nvSpPr>
          <p:cNvPr id="11" name="">
            <a:extLst xmlns:a="http://schemas.openxmlformats.org/drawingml/2006/main">
              <a:ext uri="{FF2B5EF4-FFF2-40B4-BE49-F238E27FC236}">
                <a16:creationId xmlns:a16="http://schemas.microsoft.com/office/drawing/2014/main" id="{C885A29B-9844-4C8F-AA16-95212B542F3E}"/>
              </a:ext>
            </a:extLst>
          </p:cNvPr>
          <p:cNvSpPr>
            <a:spLocks xmlns:a="http://schemas.openxmlformats.org/drawingml/2006/main" noGrp="1"/>
          </p:cNvSpPr>
          <p:nvPr/>
        </p:nvSpPr>
        <p:spPr>
          <a:xfrm xmlns:a="http://schemas.openxmlformats.org/drawingml/2006/main">
            <a:off x="6286500" y="31432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Faculty review of realism and safeguards</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Learner usability and psychological safety</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Usefulness of feedback in the next attempt</a:t>
            </a:r>
          </a:p>
          <a:p xmlns:a="http://schemas.openxmlformats.org/drawingml/2006/main">
            <a:pPr algn="l">
              <a:lnSpc>
                <a:spcPct val="124000"/>
              </a:lnSpc>
              <a:buNone/>
              <a:defRPr sz="1650" b="1">
                <a:solidFill>
                  <a:srgbClr val="151515"/>
                </a:solidFill>
                <a:latin typeface="Arial"/>
                <a:ea typeface="Arial"/>
                <a:cs typeface="Arial"/>
              </a:defRPr>
            </a:pPr>
            <a:r>
              <a:rPr sz="1650" b="1">
                <a:solidFill>
                  <a:srgbClr val="151515"/>
                </a:solidFill>
                <a:latin typeface="Arial"/>
                <a:ea typeface="Arial"/>
                <a:cs typeface="Arial"/>
              </a:rPr>
              <a:t>Retention, consent and governance decisions</a:t>
            </a:r>
          </a:p>
        </p:txBody>
      </p:sp>
      <p:sp>
        <p:nvSpPr>
          <p:cNvPr id="12" name="">
            <a:extLst xmlns:a="http://schemas.openxmlformats.org/drawingml/2006/main">
              <a:ext uri="{FF2B5EF4-FFF2-40B4-BE49-F238E27FC236}">
                <a16:creationId xmlns:a16="http://schemas.microsoft.com/office/drawing/2014/main" id="{34371EB0-1FC4-4A97-80FF-8774F622429E}"/>
              </a:ext>
            </a:extLst>
          </p:cNvPr>
          <p:cNvSpPr>
            <a:spLocks xmlns:a="http://schemas.openxmlformats.org/drawingml/2006/main" noGrp="1"/>
          </p:cNvSpPr>
          <p:nvPr/>
        </p:nvSpPr>
        <p:spPr>
          <a:xfrm xmlns:a="http://schemas.openxmlformats.org/drawingml/2006/main">
            <a:off x="457200" y="5276850"/>
            <a:ext cx="10820400" cy="866775"/>
          </a:xfrm>
          <a:prstGeom xmlns:a="http://schemas.openxmlformats.org/drawingml/2006/main" prst="rect">
            <a:avLst/>
          </a:prstGeom>
          <a:solidFill xmlns:a="http://schemas.openxmlformats.org/drawingml/2006/main">
            <a:srgbClr val="1E2A2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BBDD508-95CF-4C19-A91F-67D5CF527BC3}"/>
              </a:ext>
            </a:extLst>
          </p:cNvPr>
          <p:cNvSpPr>
            <a:spLocks xmlns:a="http://schemas.openxmlformats.org/drawingml/2006/main" noGrp="1"/>
          </p:cNvSpPr>
          <p:nvPr/>
        </p:nvSpPr>
        <p:spPr>
          <a:xfrm xmlns:a="http://schemas.openxmlformats.org/drawingml/2006/main">
            <a:off x="685800" y="5524500"/>
            <a:ext cx="100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9EB299"/>
                </a:solidFill>
                <a:latin typeface="Arial"/>
                <a:ea typeface="Arial"/>
                <a:cs typeface="Arial"/>
              </a:defRPr>
            </a:pPr>
            <a:r>
              <a:rPr sz="1125" b="1">
                <a:solidFill>
                  <a:srgbClr val="9EB299"/>
                </a:solidFill>
                <a:latin typeface="Arial"/>
                <a:ea typeface="Arial"/>
                <a:cs typeface="Arial"/>
              </a:rPr>
              <a:t>THE ASK</a:t>
            </a:r>
          </a:p>
        </p:txBody>
      </p:sp>
      <p:sp>
        <p:nvSpPr>
          <p:cNvPr id="14" name="">
            <a:extLst xmlns:a="http://schemas.openxmlformats.org/drawingml/2006/main">
              <a:ext uri="{FF2B5EF4-FFF2-40B4-BE49-F238E27FC236}">
                <a16:creationId xmlns:a16="http://schemas.microsoft.com/office/drawing/2014/main" id="{ED44D62E-CB53-48F0-BD74-AFE85958325B}"/>
              </a:ext>
            </a:extLst>
          </p:cNvPr>
          <p:cNvSpPr>
            <a:spLocks xmlns:a="http://schemas.openxmlformats.org/drawingml/2006/main" noGrp="1"/>
          </p:cNvSpPr>
          <p:nvPr/>
        </p:nvSpPr>
        <p:spPr>
          <a:xfrm xmlns:a="http://schemas.openxmlformats.org/drawingml/2006/main">
            <a:off x="2000250" y="5457825"/>
            <a:ext cx="885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950" b="1">
                <a:solidFill>
                  <a:srgbClr val="FFFFFF"/>
                </a:solidFill>
                <a:latin typeface="Arial"/>
                <a:ea typeface="Arial"/>
                <a:cs typeface="Arial"/>
              </a:defRPr>
            </a:pPr>
            <a:r>
              <a:rPr sz="1950" b="1">
                <a:solidFill>
                  <a:srgbClr val="FFFFFF"/>
                </a:solidFill>
                <a:latin typeface="Arial"/>
                <a:ea typeface="Arial"/>
                <a:cs typeface="Arial"/>
              </a:rPr>
              <a:t>Approve a limited, faculty-supervised pilot focused on the quality of the next attempt.</a:t>
            </a:r>
          </a:p>
        </p:txBody>
      </p:sp>
    </p:spTree>
    <p:extLst>
      <p:ext uri="{BB962C8B-B14F-4D97-AF65-F5344CB8AC3E}">
        <p14:creationId xmlns:p14="http://schemas.microsoft.com/office/powerpoint/2010/main" val="19419090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C50DC4-9CF3-4B7C-9A5C-AA5BF1984DCD}"/>
              </a:ext>
            </a:extLst>
          </p:cNvPr>
          <p:cNvSpPr>
            <a:spLocks xmlns:a="http://schemas.openxmlformats.org/drawingml/2006/main" noGrp="1"/>
          </p:cNvSpPr>
          <p:nvPr/>
        </p:nvSpPr>
        <p:spPr>
          <a:xfrm xmlns:a="http://schemas.openxmlformats.org/drawingml/2006/main">
            <a:off x="457200" y="285750"/>
            <a:ext cx="266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26650"/>
                </a:solidFill>
                <a:latin typeface="Arial"/>
                <a:ea typeface="Arial"/>
                <a:cs typeface="Arial"/>
              </a:defRPr>
            </a:pPr>
            <a:r>
              <a:rPr sz="975" b="1">
                <a:solidFill>
                  <a:srgbClr val="526650"/>
                </a:solidFill>
                <a:latin typeface="Arial"/>
                <a:ea typeface="Arial"/>
                <a:cs typeface="Arial"/>
              </a:rPr>
              <a:t>CLINICALMIRROR / Q&amp;A</a:t>
            </a:r>
          </a:p>
        </p:txBody>
      </p:sp>
      <p:sp>
        <p:nvSpPr>
          <p:cNvPr id="2" name="">
            <a:extLst xmlns:a="http://schemas.openxmlformats.org/drawingml/2006/main">
              <a:ext uri="{FF2B5EF4-FFF2-40B4-BE49-F238E27FC236}">
                <a16:creationId xmlns:a16="http://schemas.microsoft.com/office/drawing/2014/main" id="{A93E16EF-4C79-41B7-8DBD-809D6950CCE8}"/>
              </a:ext>
            </a:extLst>
          </p:cNvPr>
          <p:cNvSpPr>
            <a:spLocks xmlns:a="http://schemas.openxmlformats.org/drawingml/2006/main" noGrp="1"/>
          </p:cNvSpPr>
          <p:nvPr/>
        </p:nvSpPr>
        <p:spPr>
          <a:xfrm xmlns:a="http://schemas.openxmlformats.org/drawingml/2006/main">
            <a:off x="11153775" y="285750"/>
            <a:ext cx="571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4000"/>
              </a:lnSpc>
              <a:buNone/>
              <a:defRPr sz="975" b="1">
                <a:solidFill>
                  <a:srgbClr val="8C908B"/>
                </a:solidFill>
                <a:latin typeface="Arial"/>
                <a:ea typeface="Arial"/>
                <a:cs typeface="Arial"/>
              </a:defRPr>
            </a:pPr>
            <a:r>
              <a:rPr sz="975" b="1">
                <a:solidFill>
                  <a:srgbClr val="8C908B"/>
                </a:solidFill>
                <a:latin typeface="Arial"/>
                <a:ea typeface="Arial"/>
                <a:cs typeface="Arial"/>
              </a:rPr>
              <a:t>A1</a:t>
            </a:r>
          </a:p>
        </p:txBody>
      </p:sp>
      <p:sp>
        <p:nvSpPr>
          <p:cNvPr id="3" name="">
            <a:extLst xmlns:a="http://schemas.openxmlformats.org/drawingml/2006/main">
              <a:ext uri="{FF2B5EF4-FFF2-40B4-BE49-F238E27FC236}">
                <a16:creationId xmlns:a16="http://schemas.microsoft.com/office/drawing/2014/main" id="{3B9D4DF2-A7AC-4A39-97D4-AEE7CC6896E5}"/>
              </a:ext>
            </a:extLst>
          </p:cNvPr>
          <p:cNvSpPr>
            <a:spLocks xmlns:a="http://schemas.openxmlformats.org/drawingml/2006/main" noGrp="1"/>
          </p:cNvSpPr>
          <p:nvPr/>
        </p:nvSpPr>
        <p:spPr>
          <a:xfrm xmlns:a="http://schemas.openxmlformats.org/drawingml/2006/main">
            <a:off x="457200" y="590550"/>
            <a:ext cx="1127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D0D37F-502A-414E-8D5D-644BCFEC077E}"/>
              </a:ext>
            </a:extLst>
          </p:cNvPr>
          <p:cNvSpPr>
            <a:spLocks xmlns:a="http://schemas.openxmlformats.org/drawingml/2006/main" noGrp="1"/>
          </p:cNvSpPr>
          <p:nvPr/>
        </p:nvSpPr>
        <p:spPr>
          <a:xfrm xmlns:a="http://schemas.openxmlformats.org/drawingml/2006/main">
            <a:off x="457200" y="7810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3150" b="1">
                <a:solidFill>
                  <a:srgbClr val="151515"/>
                </a:solidFill>
                <a:latin typeface="Arial"/>
                <a:ea typeface="Arial"/>
                <a:cs typeface="Arial"/>
              </a:defRPr>
            </a:pPr>
            <a:r>
              <a:rPr sz="3150" b="1">
                <a:solidFill>
                  <a:srgbClr val="151515"/>
                </a:solidFill>
                <a:latin typeface="Arial"/>
                <a:ea typeface="Arial"/>
                <a:cs typeface="Arial"/>
              </a:rPr>
              <a:t>Appendix: what requires an account, key or local service?</a:t>
            </a:r>
          </a:p>
        </p:txBody>
      </p:sp>
      <p:graphicFrame>
        <p:nvGraphicFramePr>
          <p:cNvPr id="14" name=""/>
          <p:cNvGraphicFramePr/>
          <p:nvPr/>
        </p:nvGraphicFramePr>
        <p:xfrm>
          <a:off xmlns:a="http://schemas.openxmlformats.org/drawingml/2006/main" x="457200" y="1619250"/>
          <a:ext xmlns:a="http://schemas.openxmlformats.org/drawingml/2006/main" cx="11277600" cy="4000500"/>
        </p:xfrm>
        <a:graphic xmlns:a="http://schemas.openxmlformats.org/drawingml/2006/main">
          <a:graphicData uri="http://schemas.openxmlformats.org/drawingml/2006/table">
            <a:tbl>
              <a:tblPr/>
              <a:tblGrid>
                <a:gridCol w="1809750"/>
                <a:gridCol w="2857500"/>
                <a:gridCol w="3143250"/>
                <a:gridCol w="3467100"/>
              </a:tblGrid>
              <a:tr h="500063">
                <a:tc>
                  <a:txBody>
                    <a:bodyPr/>
                    <a:lstStyle/>
                    <a:p>
                      <a:r>
                        <a:rPr sz="1200" b="1">
                          <a:solidFill>
                            <a:srgbClr val="FFFFFF"/>
                          </a:solidFill>
                          <a:latin typeface="Arial"/>
                          <a:ea typeface="Arial"/>
                          <a:cs typeface="Arial"/>
                        </a:rPr>
                        <a:t>Component</a:t>
                      </a:r>
                    </a:p>
                  </a:txBody>
                  <a:tcPr marL="95250" marR="95250" marT="76200" marB="76200">
                    <a:solidFill>
                      <a:srgbClr val="1E2A20"/>
                    </a:solidFill>
                  </a:tcPr>
                </a:tc>
                <a:tc>
                  <a:txBody>
                    <a:bodyPr/>
                    <a:lstStyle/>
                    <a:p>
                      <a:r>
                        <a:rPr sz="1200" b="1">
                          <a:solidFill>
                            <a:srgbClr val="FFFFFF"/>
                          </a:solidFill>
                          <a:latin typeface="Arial"/>
                          <a:ea typeface="Arial"/>
                          <a:cs typeface="Arial"/>
                        </a:rPr>
                        <a:t>Role</a:t>
                      </a:r>
                    </a:p>
                  </a:txBody>
                  <a:tcPr marL="95250" marR="95250" marT="76200" marB="76200">
                    <a:solidFill>
                      <a:srgbClr val="1E2A20"/>
                    </a:solidFill>
                  </a:tcPr>
                </a:tc>
                <a:tc>
                  <a:txBody>
                    <a:bodyPr/>
                    <a:lstStyle/>
                    <a:p>
                      <a:r>
                        <a:rPr sz="1200" b="1">
                          <a:solidFill>
                            <a:srgbClr val="FFFFFF"/>
                          </a:solidFill>
                          <a:latin typeface="Arial"/>
                          <a:ea typeface="Arial"/>
                          <a:cs typeface="Arial"/>
                        </a:rPr>
                        <a:t>Requirement</a:t>
                      </a:r>
                    </a:p>
                  </a:txBody>
                  <a:tcPr marL="95250" marR="95250" marT="76200" marB="76200">
                    <a:solidFill>
                      <a:srgbClr val="1E2A20"/>
                    </a:solidFill>
                  </a:tcPr>
                </a:tc>
                <a:tc>
                  <a:txBody>
                    <a:bodyPr/>
                    <a:lstStyle/>
                    <a:p>
                      <a:r>
                        <a:rPr sz="1200" b="1">
                          <a:solidFill>
                            <a:srgbClr val="FFFFFF"/>
                          </a:solidFill>
                          <a:latin typeface="Arial"/>
                          <a:ea typeface="Arial"/>
                          <a:cs typeface="Arial"/>
                        </a:rPr>
                        <a:t>Prototype behaviour</a:t>
                      </a:r>
                    </a:p>
                  </a:txBody>
                  <a:tcPr marL="95250" marR="95250" marT="76200" marB="76200">
                    <a:solidFill>
                      <a:srgbClr val="1E2A20"/>
                    </a:solidFill>
                  </a:tcPr>
                </a:tc>
              </a:tr>
              <a:tr h="500063">
                <a:tc>
                  <a:txBody>
                    <a:bodyPr/>
                    <a:lstStyle/>
                    <a:p>
                      <a:r>
                        <a:rPr sz="1200" b="1">
                          <a:solidFill>
                            <a:srgbClr val="151515"/>
                          </a:solidFill>
                          <a:latin typeface="Arial"/>
                          <a:ea typeface="Arial"/>
                          <a:cs typeface="Arial"/>
                        </a:rPr>
                        <a:t>Gemini</a:t>
                      </a:r>
                    </a:p>
                  </a:txBody>
                  <a:tcPr marL="95250" marR="95250" marT="66675" marB="66675">
                    <a:solidFill>
                      <a:srgbClr val="FFFFFF"/>
                    </a:solidFill>
                  </a:tcPr>
                </a:tc>
                <a:tc>
                  <a:txBody>
                    <a:bodyPr/>
                    <a:lstStyle/>
                    <a:p>
                      <a:r>
                        <a:rPr sz="1200">
                          <a:solidFill>
                            <a:srgbClr val="151515"/>
                          </a:solidFill>
                          <a:latin typeface="Arial"/>
                          <a:ea typeface="Arial"/>
                          <a:cs typeface="Arial"/>
                        </a:rPr>
                        <a:t>Role-play, emotion, feedback</a:t>
                      </a:r>
                    </a:p>
                  </a:txBody>
                  <a:tcPr marL="95250" marR="95250" marT="66675" marB="66675">
                    <a:solidFill>
                      <a:srgbClr val="FFFFFF"/>
                    </a:solidFill>
                  </a:tcPr>
                </a:tc>
                <a:tc>
                  <a:txBody>
                    <a:bodyPr/>
                    <a:lstStyle/>
                    <a:p>
                      <a:r>
                        <a:rPr sz="1200">
                          <a:solidFill>
                            <a:srgbClr val="151515"/>
                          </a:solidFill>
                          <a:latin typeface="Arial"/>
                          <a:ea typeface="Arial"/>
                          <a:cs typeface="Arial"/>
                        </a:rPr>
                        <a:t>GEMINI_API_KEY</a:t>
                      </a:r>
                    </a:p>
                  </a:txBody>
                  <a:tcPr marL="95250" marR="95250" marT="66675" marB="66675">
                    <a:solidFill>
                      <a:srgbClr val="FFFFFF"/>
                    </a:solidFill>
                  </a:tcPr>
                </a:tc>
                <a:tc>
                  <a:txBody>
                    <a:bodyPr/>
                    <a:lstStyle/>
                    <a:p>
                      <a:r>
                        <a:rPr sz="1200">
                          <a:solidFill>
                            <a:srgbClr val="151515"/>
                          </a:solidFill>
                          <a:latin typeface="Arial"/>
                          <a:ea typeface="Arial"/>
                          <a:cs typeface="Arial"/>
                        </a:rPr>
                        <a:t>Required for the core learning loop</a:t>
                      </a:r>
                    </a:p>
                  </a:txBody>
                  <a:tcPr marL="95250" marR="95250" marT="66675" marB="66675">
                    <a:solidFill>
                      <a:srgbClr val="FFFFFF"/>
                    </a:solidFill>
                  </a:tcPr>
                </a:tc>
              </a:tr>
              <a:tr h="500063">
                <a:tc>
                  <a:txBody>
                    <a:bodyPr/>
                    <a:lstStyle/>
                    <a:p>
                      <a:r>
                        <a:rPr sz="1200" b="1">
                          <a:solidFill>
                            <a:srgbClr val="151515"/>
                          </a:solidFill>
                          <a:latin typeface="Arial"/>
                          <a:ea typeface="Arial"/>
                          <a:cs typeface="Arial"/>
                        </a:rPr>
                        <a:t>Tavus CVI</a:t>
                      </a:r>
                    </a:p>
                  </a:txBody>
                  <a:tcPr marL="95250" marR="95250" marT="66675" marB="66675">
                    <a:solidFill>
                      <a:srgbClr val="EEF2EA"/>
                    </a:solidFill>
                  </a:tcPr>
                </a:tc>
                <a:tc>
                  <a:txBody>
                    <a:bodyPr/>
                    <a:lstStyle/>
                    <a:p>
                      <a:r>
                        <a:rPr sz="1200">
                          <a:solidFill>
                            <a:srgbClr val="151515"/>
                          </a:solidFill>
                          <a:latin typeface="Arial"/>
                          <a:ea typeface="Arial"/>
                          <a:cs typeface="Arial"/>
                        </a:rPr>
                        <a:t>Live video patient</a:t>
                      </a:r>
                    </a:p>
                  </a:txBody>
                  <a:tcPr marL="95250" marR="95250" marT="66675" marB="66675">
                    <a:solidFill>
                      <a:srgbClr val="EEF2EA"/>
                    </a:solidFill>
                  </a:tcPr>
                </a:tc>
                <a:tc>
                  <a:txBody>
                    <a:bodyPr/>
                    <a:lstStyle/>
                    <a:p>
                      <a:r>
                        <a:rPr sz="1200">
                          <a:solidFill>
                            <a:srgbClr val="151515"/>
                          </a:solidFill>
                          <a:latin typeface="Arial"/>
                          <a:ea typeface="Arial"/>
                          <a:cs typeface="Arial"/>
                        </a:rPr>
                        <a:t>TAVUS_API_KEY; Face/PAL optional</a:t>
                      </a:r>
                    </a:p>
                  </a:txBody>
                  <a:tcPr marL="95250" marR="95250" marT="66675" marB="66675">
                    <a:solidFill>
                      <a:srgbClr val="EEF2EA"/>
                    </a:solidFill>
                  </a:tcPr>
                </a:tc>
                <a:tc>
                  <a:txBody>
                    <a:bodyPr/>
                    <a:lstStyle/>
                    <a:p>
                      <a:r>
                        <a:rPr sz="1200">
                          <a:solidFill>
                            <a:srgbClr val="151515"/>
                          </a:solidFill>
                          <a:latin typeface="Arial"/>
                          <a:ea typeface="Arial"/>
                          <a:cs typeface="Arial"/>
                        </a:rPr>
                        <a:t>Enabled on a configured team machine</a:t>
                      </a:r>
                    </a:p>
                  </a:txBody>
                  <a:tcPr marL="95250" marR="95250" marT="66675" marB="66675">
                    <a:solidFill>
                      <a:srgbClr val="EEF2EA"/>
                    </a:solidFill>
                  </a:tcPr>
                </a:tc>
              </a:tr>
              <a:tr h="500063">
                <a:tc>
                  <a:txBody>
                    <a:bodyPr/>
                    <a:lstStyle/>
                    <a:p>
                      <a:r>
                        <a:rPr sz="1200" b="1">
                          <a:solidFill>
                            <a:srgbClr val="151515"/>
                          </a:solidFill>
                          <a:latin typeface="Arial"/>
                          <a:ea typeface="Arial"/>
                          <a:cs typeface="Arial"/>
                        </a:rPr>
                        <a:t>Daily JS</a:t>
                      </a:r>
                    </a:p>
                  </a:txBody>
                  <a:tcPr marL="95250" marR="95250" marT="66675" marB="66675">
                    <a:solidFill>
                      <a:srgbClr val="FFFFFF"/>
                    </a:solidFill>
                  </a:tcPr>
                </a:tc>
                <a:tc>
                  <a:txBody>
                    <a:bodyPr/>
                    <a:lstStyle/>
                    <a:p>
                      <a:r>
                        <a:rPr sz="1200">
                          <a:solidFill>
                            <a:srgbClr val="151515"/>
                          </a:solidFill>
                          <a:latin typeface="Arial"/>
                          <a:ea typeface="Arial"/>
                          <a:cs typeface="Arial"/>
                        </a:rPr>
                        <a:t>Join Tavus WebRTC room</a:t>
                      </a:r>
                    </a:p>
                  </a:txBody>
                  <a:tcPr marL="95250" marR="95250" marT="66675" marB="66675">
                    <a:solidFill>
                      <a:srgbClr val="FFFFFF"/>
                    </a:solidFill>
                  </a:tcPr>
                </a:tc>
                <a:tc>
                  <a:txBody>
                    <a:bodyPr/>
                    <a:lstStyle/>
                    <a:p>
                      <a:r>
                        <a:rPr sz="1200">
                          <a:solidFill>
                            <a:srgbClr val="151515"/>
                          </a:solidFill>
                          <a:latin typeface="Arial"/>
                          <a:ea typeface="Arial"/>
                          <a:cs typeface="Arial"/>
                        </a:rPr>
                        <a:t>No separate key in this repo</a:t>
                      </a:r>
                    </a:p>
                  </a:txBody>
                  <a:tcPr marL="95250" marR="95250" marT="66675" marB="66675">
                    <a:solidFill>
                      <a:srgbClr val="FFFFFF"/>
                    </a:solidFill>
                  </a:tcPr>
                </a:tc>
                <a:tc>
                  <a:txBody>
                    <a:bodyPr/>
                    <a:lstStyle/>
                    <a:p>
                      <a:r>
                        <a:rPr sz="1200">
                          <a:solidFill>
                            <a:srgbClr val="151515"/>
                          </a:solidFill>
                          <a:latin typeface="Arial"/>
                          <a:ea typeface="Arial"/>
                          <a:cs typeface="Arial"/>
                        </a:rPr>
                        <a:t>Client dependency used by Tavus mode</a:t>
                      </a:r>
                    </a:p>
                  </a:txBody>
                  <a:tcPr marL="95250" marR="95250" marT="66675" marB="66675">
                    <a:solidFill>
                      <a:srgbClr val="FFFFFF"/>
                    </a:solidFill>
                  </a:tcPr>
                </a:tc>
              </a:tr>
              <a:tr h="500063">
                <a:tc>
                  <a:txBody>
                    <a:bodyPr/>
                    <a:lstStyle/>
                    <a:p>
                      <a:r>
                        <a:rPr sz="1200" b="1">
                          <a:solidFill>
                            <a:srgbClr val="151515"/>
                          </a:solidFill>
                          <a:latin typeface="Arial"/>
                          <a:ea typeface="Arial"/>
                          <a:cs typeface="Arial"/>
                        </a:rPr>
                        <a:t>ElevenLabs</a:t>
                      </a:r>
                    </a:p>
                  </a:txBody>
                  <a:tcPr marL="95250" marR="95250" marT="66675" marB="66675">
                    <a:solidFill>
                      <a:srgbClr val="EEF2EA"/>
                    </a:solidFill>
                  </a:tcPr>
                </a:tc>
                <a:tc>
                  <a:txBody>
                    <a:bodyPr/>
                    <a:lstStyle/>
                    <a:p>
                      <a:r>
                        <a:rPr sz="1200">
                          <a:solidFill>
                            <a:srgbClr val="151515"/>
                          </a:solidFill>
                          <a:latin typeface="Arial"/>
                          <a:ea typeface="Arial"/>
                          <a:cs typeface="Arial"/>
                        </a:rPr>
                        <a:t>Optional emotional TTS</a:t>
                      </a:r>
                    </a:p>
                  </a:txBody>
                  <a:tcPr marL="95250" marR="95250" marT="66675" marB="66675">
                    <a:solidFill>
                      <a:srgbClr val="EEF2EA"/>
                    </a:solidFill>
                  </a:tcPr>
                </a:tc>
                <a:tc>
                  <a:txBody>
                    <a:bodyPr/>
                    <a:lstStyle/>
                    <a:p>
                      <a:r>
                        <a:rPr sz="1200">
                          <a:solidFill>
                            <a:srgbClr val="151515"/>
                          </a:solidFill>
                          <a:latin typeface="Arial"/>
                          <a:ea typeface="Arial"/>
                          <a:cs typeface="Arial"/>
                        </a:rPr>
                        <a:t>API key + per-patient voice IDs</a:t>
                      </a:r>
                    </a:p>
                  </a:txBody>
                  <a:tcPr marL="95250" marR="95250" marT="66675" marB="66675">
                    <a:solidFill>
                      <a:srgbClr val="EEF2EA"/>
                    </a:solidFill>
                  </a:tcPr>
                </a:tc>
                <a:tc>
                  <a:txBody>
                    <a:bodyPr/>
                    <a:lstStyle/>
                    <a:p>
                      <a:r>
                        <a:rPr sz="1200">
                          <a:solidFill>
                            <a:srgbClr val="151515"/>
                          </a:solidFill>
                          <a:latin typeface="Arial"/>
                          <a:ea typeface="Arial"/>
                          <a:cs typeface="Arial"/>
                        </a:rPr>
                        <a:t>Optional; falls back to browser speech</a:t>
                      </a:r>
                    </a:p>
                  </a:txBody>
                  <a:tcPr marL="95250" marR="95250" marT="66675" marB="66675">
                    <a:solidFill>
                      <a:srgbClr val="EEF2EA"/>
                    </a:solidFill>
                  </a:tcPr>
                </a:tc>
              </a:tr>
              <a:tr h="500063">
                <a:tc>
                  <a:txBody>
                    <a:bodyPr/>
                    <a:lstStyle/>
                    <a:p>
                      <a:r>
                        <a:rPr sz="1200" b="1">
                          <a:solidFill>
                            <a:srgbClr val="151515"/>
                          </a:solidFill>
                          <a:latin typeface="Arial"/>
                          <a:ea typeface="Arial"/>
                          <a:cs typeface="Arial"/>
                        </a:rPr>
                        <a:t>Next.js / React</a:t>
                      </a:r>
                    </a:p>
                  </a:txBody>
                  <a:tcPr marL="95250" marR="95250" marT="66675" marB="66675">
                    <a:solidFill>
                      <a:srgbClr val="FFFFFF"/>
                    </a:solidFill>
                  </a:tcPr>
                </a:tc>
                <a:tc>
                  <a:txBody>
                    <a:bodyPr/>
                    <a:lstStyle/>
                    <a:p>
                      <a:r>
                        <a:rPr sz="1200">
                          <a:solidFill>
                            <a:srgbClr val="151515"/>
                          </a:solidFill>
                          <a:latin typeface="Arial"/>
                          <a:ea typeface="Arial"/>
                          <a:cs typeface="Arial"/>
                        </a:rPr>
                        <a:t>Browser UI and server routes</a:t>
                      </a:r>
                    </a:p>
                  </a:txBody>
                  <a:tcPr marL="95250" marR="95250" marT="66675" marB="66675">
                    <a:solidFill>
                      <a:srgbClr val="FFFFFF"/>
                    </a:solidFill>
                  </a:tcPr>
                </a:tc>
                <a:tc>
                  <a:txBody>
                    <a:bodyPr/>
                    <a:lstStyle/>
                    <a:p>
                      <a:r>
                        <a:rPr sz="1200">
                          <a:solidFill>
                            <a:srgbClr val="151515"/>
                          </a:solidFill>
                          <a:latin typeface="Arial"/>
                          <a:ea typeface="Arial"/>
                          <a:cs typeface="Arial"/>
                        </a:rPr>
                        <a:t>Node.js + npm dependencies</a:t>
                      </a:r>
                    </a:p>
                  </a:txBody>
                  <a:tcPr marL="95250" marR="95250" marT="66675" marB="66675">
                    <a:solidFill>
                      <a:srgbClr val="FFFFFF"/>
                    </a:solidFill>
                  </a:tcPr>
                </a:tc>
                <a:tc>
                  <a:txBody>
                    <a:bodyPr/>
                    <a:lstStyle/>
                    <a:p>
                      <a:r>
                        <a:rPr sz="1200">
                          <a:solidFill>
                            <a:srgbClr val="151515"/>
                          </a:solidFill>
                          <a:latin typeface="Arial"/>
                          <a:ea typeface="Arial"/>
                          <a:cs typeface="Arial"/>
                        </a:rPr>
                        <a:t>Runs locally; no SQL required</a:t>
                      </a:r>
                    </a:p>
                  </a:txBody>
                  <a:tcPr marL="95250" marR="95250" marT="66675" marB="66675">
                    <a:solidFill>
                      <a:srgbClr val="FFFFFF"/>
                    </a:solidFill>
                  </a:tcPr>
                </a:tc>
              </a:tr>
              <a:tr h="500063">
                <a:tc>
                  <a:txBody>
                    <a:bodyPr/>
                    <a:lstStyle/>
                    <a:p>
                      <a:r>
                        <a:rPr sz="1200" b="1">
                          <a:solidFill>
                            <a:srgbClr val="151515"/>
                          </a:solidFill>
                          <a:latin typeface="Arial"/>
                          <a:ea typeface="Arial"/>
                          <a:cs typeface="Arial"/>
                        </a:rPr>
                        <a:t>Browser APIs</a:t>
                      </a:r>
                    </a:p>
                  </a:txBody>
                  <a:tcPr marL="95250" marR="95250" marT="66675" marB="66675">
                    <a:solidFill>
                      <a:srgbClr val="EEF2EA"/>
                    </a:solidFill>
                  </a:tcPr>
                </a:tc>
                <a:tc>
                  <a:txBody>
                    <a:bodyPr/>
                    <a:lstStyle/>
                    <a:p>
                      <a:r>
                        <a:rPr sz="1200">
                          <a:solidFill>
                            <a:srgbClr val="151515"/>
                          </a:solidFill>
                          <a:latin typeface="Arial"/>
                          <a:ea typeface="Arial"/>
                          <a:cs typeface="Arial"/>
                        </a:rPr>
                        <a:t>Voice input and speech fallback</a:t>
                      </a:r>
                    </a:p>
                  </a:txBody>
                  <a:tcPr marL="95250" marR="95250" marT="66675" marB="66675">
                    <a:solidFill>
                      <a:srgbClr val="EEF2EA"/>
                    </a:solidFill>
                  </a:tcPr>
                </a:tc>
                <a:tc>
                  <a:txBody>
                    <a:bodyPr/>
                    <a:lstStyle/>
                    <a:p>
                      <a:r>
                        <a:rPr sz="1200">
                          <a:solidFill>
                            <a:srgbClr val="151515"/>
                          </a:solidFill>
                          <a:latin typeface="Arial"/>
                          <a:ea typeface="Arial"/>
                          <a:cs typeface="Arial"/>
                        </a:rPr>
                        <a:t>Compatible browser + mic permission</a:t>
                      </a:r>
                    </a:p>
                  </a:txBody>
                  <a:tcPr marL="95250" marR="95250" marT="66675" marB="66675">
                    <a:solidFill>
                      <a:srgbClr val="EEF2EA"/>
                    </a:solidFill>
                  </a:tcPr>
                </a:tc>
                <a:tc>
                  <a:txBody>
                    <a:bodyPr/>
                    <a:lstStyle/>
                    <a:p>
                      <a:r>
                        <a:rPr sz="1200">
                          <a:solidFill>
                            <a:srgbClr val="151515"/>
                          </a:solidFill>
                          <a:latin typeface="Arial"/>
                          <a:ea typeface="Arial"/>
                          <a:cs typeface="Arial"/>
                        </a:rPr>
                        <a:t>No external account</a:t>
                      </a:r>
                    </a:p>
                  </a:txBody>
                  <a:tcPr marL="95250" marR="95250" marT="66675" marB="66675">
                    <a:solidFill>
                      <a:srgbClr val="EEF2EA"/>
                    </a:solidFill>
                  </a:tcPr>
                </a:tc>
              </a:tr>
              <a:tr h="500063">
                <a:tc>
                  <a:txBody>
                    <a:bodyPr/>
                    <a:lstStyle/>
                    <a:p>
                      <a:r>
                        <a:rPr sz="1200" b="1">
                          <a:solidFill>
                            <a:srgbClr val="151515"/>
                          </a:solidFill>
                          <a:latin typeface="Arial"/>
                          <a:ea typeface="Arial"/>
                          <a:cs typeface="Arial"/>
                        </a:rPr>
                        <a:t>SQL / Auth</a:t>
                      </a:r>
                    </a:p>
                  </a:txBody>
                  <a:tcPr marL="95250" marR="95250" marT="66675" marB="66675">
                    <a:solidFill>
                      <a:srgbClr val="FFFFFF"/>
                    </a:solidFill>
                  </a:tcPr>
                </a:tc>
                <a:tc>
                  <a:txBody>
                    <a:bodyPr/>
                    <a:lstStyle/>
                    <a:p>
                      <a:r>
                        <a:rPr sz="1200">
                          <a:solidFill>
                            <a:srgbClr val="151515"/>
                          </a:solidFill>
                          <a:latin typeface="Arial"/>
                          <a:ea typeface="Arial"/>
                          <a:cs typeface="Arial"/>
                        </a:rPr>
                        <a:t>Persistent records and accounts</a:t>
                      </a:r>
                    </a:p>
                  </a:txBody>
                  <a:tcPr marL="95250" marR="95250" marT="66675" marB="66675">
                    <a:solidFill>
                      <a:srgbClr val="FFFFFF"/>
                    </a:solidFill>
                  </a:tcPr>
                </a:tc>
                <a:tc>
                  <a:txBody>
                    <a:bodyPr/>
                    <a:lstStyle/>
                    <a:p>
                      <a:r>
                        <a:rPr sz="1200">
                          <a:solidFill>
                            <a:srgbClr val="151515"/>
                          </a:solidFill>
                          <a:latin typeface="Arial"/>
                          <a:ea typeface="Arial"/>
                          <a:cs typeface="Arial"/>
                        </a:rPr>
                        <a:t>Not implemented</a:t>
                      </a:r>
                    </a:p>
                  </a:txBody>
                  <a:tcPr marL="95250" marR="95250" marT="66675" marB="66675">
                    <a:solidFill>
                      <a:srgbClr val="FFFFFF"/>
                    </a:solidFill>
                  </a:tcPr>
                </a:tc>
                <a:tc>
                  <a:txBody>
                    <a:bodyPr/>
                    <a:lstStyle/>
                    <a:p>
                      <a:r>
                        <a:rPr sz="1200">
                          <a:solidFill>
                            <a:srgbClr val="151515"/>
                          </a:solidFill>
                          <a:latin typeface="Arial"/>
                          <a:ea typeface="Arial"/>
                          <a:cs typeface="Arial"/>
                        </a:rPr>
                        <a:t>Not required for the prototype</a:t>
                      </a:r>
                    </a:p>
                  </a:txBody>
                  <a:tcPr marL="95250" marR="95250" marT="66675" marB="66675">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5877507-F26B-455C-9E78-C0C725279FBA}"/>
              </a:ext>
            </a:extLst>
          </p:cNvPr>
          <p:cNvSpPr>
            <a:spLocks xmlns:a="http://schemas.openxmlformats.org/drawingml/2006/main" noGrp="1"/>
          </p:cNvSpPr>
          <p:nvPr/>
        </p:nvSpPr>
        <p:spPr>
          <a:xfrm xmlns:a="http://schemas.openxmlformats.org/drawingml/2006/main">
            <a:off x="457200" y="5886450"/>
            <a:ext cx="11277600" cy="457200"/>
          </a:xfrm>
          <a:prstGeom xmlns:a="http://schemas.openxmlformats.org/drawingml/2006/main" prst="rect">
            <a:avLst/>
          </a:prstGeom>
          <a:solidFill xmlns:a="http://schemas.openxmlformats.org/drawingml/2006/main">
            <a:srgbClr val="EEF2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3B224F-BAE2-49C9-83E4-FADD92B08845}"/>
              </a:ext>
            </a:extLst>
          </p:cNvPr>
          <p:cNvSpPr>
            <a:spLocks xmlns:a="http://schemas.openxmlformats.org/drawingml/2006/main" noGrp="1"/>
          </p:cNvSpPr>
          <p:nvPr/>
        </p:nvSpPr>
        <p:spPr>
          <a:xfrm xmlns:a="http://schemas.openxmlformats.org/drawingml/2006/main">
            <a:off x="647700" y="6029325"/>
            <a:ext cx="10896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75" b="1">
                <a:solidFill>
                  <a:srgbClr val="526650"/>
                </a:solidFill>
                <a:latin typeface="Arial"/>
                <a:ea typeface="Arial"/>
                <a:cs typeface="Arial"/>
              </a:defRPr>
            </a:pPr>
            <a:r>
              <a:rPr sz="1275" b="1">
                <a:solidFill>
                  <a:srgbClr val="526650"/>
                </a:solidFill>
                <a:latin typeface="Arial"/>
                <a:ea typeface="Arial"/>
                <a:cs typeface="Arial"/>
              </a:rPr>
              <a:t>Core: Gemini. Live video: Tavus + Daily. Voice: ElevenLabs or browser speech.</a:t>
            </a:r>
          </a:p>
        </p:txBody>
      </p:sp>
    </p:spTree>
    <p:extLst>
      <p:ext uri="{BB962C8B-B14F-4D97-AF65-F5344CB8AC3E}">
        <p14:creationId xmlns:p14="http://schemas.microsoft.com/office/powerpoint/2010/main" val="15793078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2026-08-12T17:51:02.2210000Z</dcterms:created>
  <dcterms:modified xsi:type="dcterms:W3CDTF">2026-08-12T17:51:02.2210000Z</dcterms:modified>
</coreProperties>
</file>